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8" d="100"/>
          <a:sy n="148" d="100"/>
        </p:scale>
        <p:origin x="10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CB7D3-04F2-6AF0-96CC-051EE84830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784135-C4F1-53E6-6192-EC409DE8F3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3BC55-8420-1AB7-1D47-D56CB42C2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9AEA1-FD47-40BF-B499-C6B87CDC3AB1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280DC-65DF-2255-3BB8-A5A909F7F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162E9-F7BB-B865-3926-015ADA9C2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903D-E81D-4051-A55E-9009B16617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6656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CA00C-2995-4D92-0B07-38A94B606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CC000-B073-318C-3577-F39EAC485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6C2F1-6CBC-D190-5079-583D2C9EC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9AEA1-FD47-40BF-B499-C6B87CDC3AB1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725E2-2918-B0C0-24B9-99DD3A71B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B9B83-685C-D008-66E7-BE68BF6B8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903D-E81D-4051-A55E-9009B16617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607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B5723-47AF-732C-7EDA-EEDB09DBF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B21B4-4264-BA54-C0C2-AE20A3BAF1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A0862-9D87-86A9-7145-56BFFFE5D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9AEA1-FD47-40BF-B499-C6B87CDC3AB1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B9606-8E31-B3F3-BCFA-7BBE74CDF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240D2-AA48-0A72-E275-827568EA3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903D-E81D-4051-A55E-9009B16617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9179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35D33-E60B-40FD-D8E2-B8082E42E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2C73B-379E-CABA-F6FE-6F8B056FB9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156AAD-CB34-5726-5A71-26E897525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10D28-A18F-4A35-09E6-3A277BE37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9AEA1-FD47-40BF-B499-C6B87CDC3AB1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9C77EC-FF58-5F19-C1A8-91CBBF7FD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02EB80-CAE8-0EB3-70D9-BA0953C13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903D-E81D-4051-A55E-9009B16617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467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97BCB-FDAD-CE22-7C09-D3BBFD897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89E252-D3E8-51A0-EA13-CF93D48B1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677EF7-101E-B0AD-6873-D445C73D09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6E7DEB-2520-0D92-AE5A-30A501B815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EC112E-615D-252E-A08D-C752D69401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0529A7-60D9-9467-C4DA-DB035F919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9AEA1-FD47-40BF-B499-C6B87CDC3AB1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708E0A-7FB3-6F5E-6ECA-5C5FC01ED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FFD39F-CBF6-97B5-5194-881116E15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903D-E81D-4051-A55E-9009B16617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267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39DF9-D8CA-2533-766E-DF9DDDA7D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BE02EE-0C5B-0151-71C3-E90B99054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9AEA1-FD47-40BF-B499-C6B87CDC3AB1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75CCB5-F307-0023-AA21-07B43DB7D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84196E-30C9-D0EC-8772-01244F1FF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903D-E81D-4051-A55E-9009B16617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008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C81AA7-334F-E858-EE43-D2C00CD2D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9AEA1-FD47-40BF-B499-C6B87CDC3AB1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DDFDA5-EC52-4ED8-BB3F-862F56B33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5870E-9CCB-B2A3-4846-B894E1D1C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903D-E81D-4051-A55E-9009B16617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298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BCD98-C594-012B-3706-B3DB30AFB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1384B-B3E8-8B87-184C-45EBE762E3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6FBFE2-3ED0-1595-AA4A-E8AACAC0AE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E2D8A5-0875-486E-5139-34C3A42F2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9AEA1-FD47-40BF-B499-C6B87CDC3AB1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042FF-4665-A529-AAEF-5C47E5A27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0A77BC-D352-2164-8A7B-4F22E3AD3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903D-E81D-4051-A55E-9009B16617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61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9E0C3-DC07-CA31-E0FC-A72D7C3E6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8E6F96-2546-A660-A249-A6E9DBEEBD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C7ABDB-14EC-9C4F-BD2C-0AA998D52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B194F9-C2AA-6E15-DB36-5066274A7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9AEA1-FD47-40BF-B499-C6B87CDC3AB1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DA87C5-CF5A-78FD-B148-A59DAA246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002EF5-27C6-2797-24C9-4C264BED1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903D-E81D-4051-A55E-9009B16617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3442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B8210-D9CD-5F1D-6F04-D43B2302E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206B4A-A27C-0ADD-14EE-8D32D6C215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C872D-FE86-BDDA-2107-A4B1C8936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9AEA1-FD47-40BF-B499-C6B87CDC3AB1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DDD0F-C47A-B1FF-3813-04F704C64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ACB68-C2EB-94D0-34FF-A7B38DE3D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903D-E81D-4051-A55E-9009B16617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6042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9E4986-1DC7-602B-D8DD-B7FE876B1C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DC117E-CE3D-1192-2C7B-250370F7B5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2D9B2-63C7-6CEC-A615-4C2DEFD0C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9AEA1-FD47-40BF-B499-C6B87CDC3AB1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6DFC9-0295-6753-C1B6-79B36614D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B8B07-2532-41CD-867D-AA96533FF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903D-E81D-4051-A55E-9009B16617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29237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beR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B223B49-3DBF-EBCA-4719-D900EBA6E25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ED78A46-6BF7-77E1-F3CB-58167A1050E7}"/>
              </a:ext>
            </a:extLst>
          </p:cNvPr>
          <p:cNvSpPr/>
          <p:nvPr userDrawn="1"/>
        </p:nvSpPr>
        <p:spPr>
          <a:xfrm>
            <a:off x="9652000" y="-1397000"/>
            <a:ext cx="3937000" cy="3937000"/>
          </a:xfrm>
          <a:prstGeom prst="ellipse">
            <a:avLst/>
          </a:prstGeom>
          <a:solidFill>
            <a:srgbClr val="4D7FA8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9EB49DD-511B-6098-2C65-5AFFC2A80AB1}"/>
              </a:ext>
            </a:extLst>
          </p:cNvPr>
          <p:cNvSpPr/>
          <p:nvPr userDrawn="1"/>
        </p:nvSpPr>
        <p:spPr>
          <a:xfrm>
            <a:off x="10414000" y="4953000"/>
            <a:ext cx="2286000" cy="2286000"/>
          </a:xfrm>
          <a:prstGeom prst="ellipse">
            <a:avLst/>
          </a:prstGeom>
          <a:solidFill>
            <a:srgbClr val="28777B">
              <a:alpha val="2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50D734A-33E8-BA38-FD31-8854078A01B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381000"/>
            <a:ext cx="457200" cy="457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9EA92E6-FC90-DD26-F165-04BD5789A183}"/>
              </a:ext>
            </a:extLst>
          </p:cNvPr>
          <p:cNvSpPr txBox="1"/>
          <p:nvPr userDrawn="1"/>
        </p:nvSpPr>
        <p:spPr>
          <a:xfrm>
            <a:off x="1168400" y="370617"/>
            <a:ext cx="646011" cy="3231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l"/>
            <a:r>
              <a:rPr lang="en-GB" sz="2100" b="1">
                <a:solidFill>
                  <a:srgbClr val="FFFFFF"/>
                </a:solidFill>
                <a:latin typeface="Aptos Display" panose="020B0004020202020204" pitchFamily="34" charset="0"/>
              </a:rPr>
              <a:t>LibeR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7B79C4BD-606F-8B9C-54B1-6E05EB1F321A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98500" y="1803399"/>
            <a:ext cx="8636000" cy="1422400"/>
          </a:xfrm>
        </p:spPr>
        <p:txBody>
          <a:bodyPr lIns="0" tIns="0" rIns="0" bIns="0">
            <a:normAutofit/>
          </a:bodyPr>
          <a:lstStyle>
            <a:lvl1pPr>
              <a:defRPr sz="3400" b="1">
                <a:solidFill>
                  <a:srgbClr val="FFFFFF"/>
                </a:solidFill>
                <a:latin typeface="Aptos Display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4BE4B2A9-03AD-4549-AFEF-690B901E3112}"/>
              </a:ext>
            </a:extLst>
          </p:cNvPr>
          <p:cNvSpPr>
            <a:spLocks noGrp="1"/>
          </p:cNvSpPr>
          <p:nvPr>
            <p:ph type="subTitle" idx="11"/>
          </p:nvPr>
        </p:nvSpPr>
        <p:spPr>
          <a:xfrm>
            <a:off x="736600" y="3429000"/>
            <a:ext cx="7874000" cy="914400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800" b="0">
                <a:solidFill>
                  <a:srgbClr val="D4DEE7"/>
                </a:solidFill>
                <a:latin typeface="Aptos" panose="020B00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45989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beR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08FB797-6D01-38D7-C541-90BC1A1416A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4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97B3E5-81CA-081B-214A-E3F1EED1359E}"/>
              </a:ext>
            </a:extLst>
          </p:cNvPr>
          <p:cNvSpPr/>
          <p:nvPr userDrawn="1"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4D7F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4347362-6D63-EF37-AC8C-DF7ADF789029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" y="304800"/>
            <a:ext cx="368300" cy="3683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8081800-E247-8FAC-0905-1DDE1C028D83}"/>
              </a:ext>
            </a:extLst>
          </p:cNvPr>
          <p:cNvSpPr txBox="1"/>
          <p:nvPr userDrawn="1"/>
        </p:nvSpPr>
        <p:spPr>
          <a:xfrm>
            <a:off x="1003300" y="325194"/>
            <a:ext cx="524182" cy="26161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l"/>
            <a:r>
              <a:rPr lang="en-GB" sz="1700" b="1">
                <a:solidFill>
                  <a:srgbClr val="23384D"/>
                </a:solidFill>
                <a:latin typeface="Aptos Display" panose="020B0004020202020204" pitchFamily="34" charset="0"/>
              </a:rPr>
              <a:t>LibeR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18842F3-CBA9-E10B-9A61-25D12C2C7BF5}"/>
              </a:ext>
            </a:extLst>
          </p:cNvPr>
          <p:cNvCxnSpPr/>
          <p:nvPr userDrawn="1"/>
        </p:nvCxnSpPr>
        <p:spPr>
          <a:xfrm>
            <a:off x="533400" y="6477000"/>
            <a:ext cx="11125200" cy="0"/>
          </a:xfrm>
          <a:prstGeom prst="line">
            <a:avLst/>
          </a:prstGeom>
          <a:ln w="10160" cap="flat" cmpd="sng" algn="ctr">
            <a:solidFill>
              <a:srgbClr val="CCD5D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67A0B11-D497-6E97-87A7-2891497017CA}"/>
              </a:ext>
            </a:extLst>
          </p:cNvPr>
          <p:cNvSpPr txBox="1"/>
          <p:nvPr userDrawn="1"/>
        </p:nvSpPr>
        <p:spPr>
          <a:xfrm>
            <a:off x="533400" y="6527800"/>
            <a:ext cx="851195" cy="1384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l"/>
            <a:r>
              <a:rPr lang="en-GB" sz="900" b="0">
                <a:solidFill>
                  <a:srgbClr val="65727E"/>
                </a:solidFill>
                <a:latin typeface="Aptos" panose="020B0004020202020204" pitchFamily="34" charset="0"/>
              </a:rPr>
              <a:t>LibeR ecosystem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2146DA1F-FF1A-788C-2A79-7DC7219E1EF9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546100" y="825500"/>
            <a:ext cx="11049000" cy="533400"/>
          </a:xfrm>
        </p:spPr>
        <p:txBody>
          <a:bodyPr lIns="0" tIns="0" rIns="0" bIns="0">
            <a:normAutofit/>
          </a:bodyPr>
          <a:lstStyle>
            <a:lvl1pPr>
              <a:defRPr sz="2700" b="1">
                <a:solidFill>
                  <a:srgbClr val="23384D"/>
                </a:solidFill>
                <a:latin typeface="Aptos Display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2B4747E-C251-98E6-B431-96CE22D436FD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558800" y="1587500"/>
            <a:ext cx="11049000" cy="4508500"/>
          </a:xfrm>
        </p:spPr>
        <p:txBody>
          <a:bodyPr lIns="0" tIns="0" rIns="0" bIns="0">
            <a:normAutofit/>
          </a:bodyPr>
          <a:lstStyle>
            <a:lvl1pPr>
              <a:defRPr sz="1800" b="0">
                <a:solidFill>
                  <a:srgbClr val="1F2B36"/>
                </a:solidFill>
                <a:latin typeface="Aptos" panose="020B0004020202020204" pitchFamily="34" charset="0"/>
              </a:defRPr>
            </a:lvl1pPr>
            <a:lvl2pPr>
              <a:defRPr sz="1800" b="0">
                <a:solidFill>
                  <a:srgbClr val="1F2B36"/>
                </a:solidFill>
                <a:latin typeface="Aptos" panose="020B0004020202020204" pitchFamily="34" charset="0"/>
              </a:defRPr>
            </a:lvl2pPr>
            <a:lvl3pPr>
              <a:defRPr sz="1800" b="0">
                <a:solidFill>
                  <a:srgbClr val="1F2B36"/>
                </a:solidFill>
                <a:latin typeface="Aptos" panose="020B0004020202020204" pitchFamily="34" charset="0"/>
              </a:defRPr>
            </a:lvl3pPr>
            <a:lvl4pPr>
              <a:defRPr sz="1800" b="0">
                <a:solidFill>
                  <a:srgbClr val="1F2B36"/>
                </a:solidFill>
                <a:latin typeface="Aptos" panose="020B0004020202020204" pitchFamily="34" charset="0"/>
              </a:defRPr>
            </a:lvl4pPr>
            <a:lvl5pPr>
              <a:defRPr sz="1800" b="0">
                <a:solidFill>
                  <a:srgbClr val="1F2B36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63668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beR -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436CD03-E40A-D6FE-2608-DC19DA108D1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4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C95EAB-51A4-B5CA-A8C7-34A5A0812C32}"/>
              </a:ext>
            </a:extLst>
          </p:cNvPr>
          <p:cNvSpPr/>
          <p:nvPr userDrawn="1"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4D7F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5ECFECB-A584-E24C-8F1D-D92E0052FEE9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" y="304800"/>
            <a:ext cx="368300" cy="3683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CAB4C97-E4CC-BFDA-C459-EDFCC51447AA}"/>
              </a:ext>
            </a:extLst>
          </p:cNvPr>
          <p:cNvSpPr txBox="1"/>
          <p:nvPr userDrawn="1"/>
        </p:nvSpPr>
        <p:spPr>
          <a:xfrm>
            <a:off x="1003300" y="325194"/>
            <a:ext cx="524182" cy="26161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l"/>
            <a:r>
              <a:rPr lang="en-GB" sz="1700" b="1">
                <a:solidFill>
                  <a:srgbClr val="23384D"/>
                </a:solidFill>
                <a:latin typeface="Aptos Display" panose="020B0004020202020204" pitchFamily="34" charset="0"/>
              </a:rPr>
              <a:t>LibeR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2292972-C49F-54A9-A893-275CEA496821}"/>
              </a:ext>
            </a:extLst>
          </p:cNvPr>
          <p:cNvCxnSpPr/>
          <p:nvPr userDrawn="1"/>
        </p:nvCxnSpPr>
        <p:spPr>
          <a:xfrm>
            <a:off x="533400" y="6477000"/>
            <a:ext cx="11125200" cy="0"/>
          </a:xfrm>
          <a:prstGeom prst="line">
            <a:avLst/>
          </a:prstGeom>
          <a:ln w="10160" cap="flat" cmpd="sng" algn="ctr">
            <a:solidFill>
              <a:srgbClr val="CCD5D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11D9A0A-44A5-0E84-7E78-76534E4F8B3D}"/>
              </a:ext>
            </a:extLst>
          </p:cNvPr>
          <p:cNvSpPr txBox="1"/>
          <p:nvPr userDrawn="1"/>
        </p:nvSpPr>
        <p:spPr>
          <a:xfrm>
            <a:off x="533400" y="6527800"/>
            <a:ext cx="851195" cy="1384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l"/>
            <a:r>
              <a:rPr lang="en-GB" sz="900" b="0">
                <a:solidFill>
                  <a:srgbClr val="65727E"/>
                </a:solidFill>
                <a:latin typeface="Aptos" panose="020B0004020202020204" pitchFamily="34" charset="0"/>
              </a:rPr>
              <a:t>LibeR ecosystem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37367952-F3BB-19F3-A60E-CE361A752875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546100" y="825500"/>
            <a:ext cx="11049000" cy="533400"/>
          </a:xfrm>
        </p:spPr>
        <p:txBody>
          <a:bodyPr lIns="0" tIns="0" rIns="0" bIns="0">
            <a:normAutofit/>
          </a:bodyPr>
          <a:lstStyle>
            <a:lvl1pPr>
              <a:defRPr sz="2700" b="1">
                <a:solidFill>
                  <a:srgbClr val="23384D"/>
                </a:solidFill>
                <a:latin typeface="Aptos Display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8EBC835-C7B2-CA34-58E3-149C30A03194}"/>
              </a:ext>
            </a:extLst>
          </p:cNvPr>
          <p:cNvSpPr/>
          <p:nvPr userDrawn="1"/>
        </p:nvSpPr>
        <p:spPr>
          <a:xfrm>
            <a:off x="558800" y="1600200"/>
            <a:ext cx="5334000" cy="4445000"/>
          </a:xfrm>
          <a:prstGeom prst="roundRect">
            <a:avLst/>
          </a:prstGeom>
          <a:solidFill>
            <a:srgbClr val="FFFFFF"/>
          </a:solidFill>
          <a:ln w="10795" cap="flat" cmpd="sng" algn="ctr">
            <a:solidFill>
              <a:srgbClr val="CCD5DC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25400" dir="5400000" rotWithShape="0">
              <a:scrgbClr r="0" g="0" b="0">
                <a:alpha val="1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E5C1B76-EAA6-0C46-5AFC-E2D8EF51C5EC}"/>
              </a:ext>
            </a:extLst>
          </p:cNvPr>
          <p:cNvSpPr/>
          <p:nvPr userDrawn="1"/>
        </p:nvSpPr>
        <p:spPr>
          <a:xfrm>
            <a:off x="6172200" y="1600200"/>
            <a:ext cx="5461000" cy="4445000"/>
          </a:xfrm>
          <a:prstGeom prst="roundRect">
            <a:avLst/>
          </a:prstGeom>
          <a:solidFill>
            <a:srgbClr val="FFFFFF"/>
          </a:solidFill>
          <a:ln w="10795" cap="flat" cmpd="sng" algn="ctr">
            <a:solidFill>
              <a:srgbClr val="CCD5DC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25400" dir="5400000" rotWithShape="0">
              <a:scrgbClr r="0" g="0" b="0">
                <a:alpha val="1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A82B3FD-5C79-C842-17BD-2C8BC784DE92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812800" y="1841500"/>
            <a:ext cx="4826000" cy="3937000"/>
          </a:xfrm>
        </p:spPr>
        <p:txBody>
          <a:bodyPr lIns="0" tIns="0" rIns="0" bIns="0">
            <a:normAutofit/>
          </a:bodyPr>
          <a:lstStyle>
            <a:lvl1pPr>
              <a:defRPr sz="1700" b="0">
                <a:solidFill>
                  <a:srgbClr val="1F2B36"/>
                </a:solidFill>
                <a:latin typeface="Aptos" panose="020B0004020202020204" pitchFamily="34" charset="0"/>
              </a:defRPr>
            </a:lvl1pPr>
            <a:lvl2pPr>
              <a:defRPr sz="1700" b="0">
                <a:solidFill>
                  <a:srgbClr val="1F2B36"/>
                </a:solidFill>
                <a:latin typeface="Aptos" panose="020B0004020202020204" pitchFamily="34" charset="0"/>
              </a:defRPr>
            </a:lvl2pPr>
            <a:lvl3pPr>
              <a:defRPr sz="1700" b="0">
                <a:solidFill>
                  <a:srgbClr val="1F2B36"/>
                </a:solidFill>
                <a:latin typeface="Aptos" panose="020B0004020202020204" pitchFamily="34" charset="0"/>
              </a:defRPr>
            </a:lvl3pPr>
            <a:lvl4pPr>
              <a:defRPr sz="1700" b="0">
                <a:solidFill>
                  <a:srgbClr val="1F2B36"/>
                </a:solidFill>
                <a:latin typeface="Aptos" panose="020B0004020202020204" pitchFamily="34" charset="0"/>
              </a:defRPr>
            </a:lvl4pPr>
            <a:lvl5pPr>
              <a:defRPr sz="1700" b="0">
                <a:solidFill>
                  <a:srgbClr val="1F2B36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EEBD358-D52D-5F3E-6F29-1BD8AD4BF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26200" y="1841500"/>
            <a:ext cx="4953000" cy="3937000"/>
          </a:xfrm>
          <a:prstGeom prst="rect">
            <a:avLst/>
          </a:prstGeom>
        </p:spPr>
        <p:txBody>
          <a:bodyPr lIns="0" tIns="0" rIns="0" bIns="0"/>
          <a:lstStyle>
            <a:lvl1pPr>
              <a:defRPr sz="1700" b="0">
                <a:solidFill>
                  <a:srgbClr val="1F2B36"/>
                </a:solidFill>
                <a:latin typeface="Aptos" panose="020B0004020202020204" pitchFamily="34" charset="0"/>
              </a:defRPr>
            </a:lvl1pPr>
            <a:lvl2pPr>
              <a:defRPr sz="1700" b="0">
                <a:solidFill>
                  <a:srgbClr val="1F2B36"/>
                </a:solidFill>
                <a:latin typeface="Aptos" panose="020B0004020202020204" pitchFamily="34" charset="0"/>
              </a:defRPr>
            </a:lvl2pPr>
            <a:lvl3pPr>
              <a:defRPr sz="1700" b="0">
                <a:solidFill>
                  <a:srgbClr val="1F2B36"/>
                </a:solidFill>
                <a:latin typeface="Aptos" panose="020B0004020202020204" pitchFamily="34" charset="0"/>
              </a:defRPr>
            </a:lvl3pPr>
            <a:lvl4pPr>
              <a:defRPr sz="1700" b="0">
                <a:solidFill>
                  <a:srgbClr val="1F2B36"/>
                </a:solidFill>
                <a:latin typeface="Aptos" panose="020B0004020202020204" pitchFamily="34" charset="0"/>
              </a:defRPr>
            </a:lvl4pPr>
            <a:lvl5pPr>
              <a:defRPr sz="1700" b="0">
                <a:solidFill>
                  <a:srgbClr val="1F2B36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67341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beR - 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11E349-CF3E-55B2-0779-7209FAF79C3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1F10F1A-85C8-EDB9-22ED-0B261DAADBE7}"/>
              </a:ext>
            </a:extLst>
          </p:cNvPr>
          <p:cNvSpPr/>
          <p:nvPr userDrawn="1"/>
        </p:nvSpPr>
        <p:spPr>
          <a:xfrm>
            <a:off x="9652000" y="-1397000"/>
            <a:ext cx="3937000" cy="3937000"/>
          </a:xfrm>
          <a:prstGeom prst="ellipse">
            <a:avLst/>
          </a:prstGeom>
          <a:solidFill>
            <a:srgbClr val="4D7FA8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E8BDB08-302D-4B78-21F8-DC5789F86815}"/>
              </a:ext>
            </a:extLst>
          </p:cNvPr>
          <p:cNvSpPr/>
          <p:nvPr userDrawn="1"/>
        </p:nvSpPr>
        <p:spPr>
          <a:xfrm>
            <a:off x="10414000" y="4953000"/>
            <a:ext cx="2286000" cy="2286000"/>
          </a:xfrm>
          <a:prstGeom prst="ellipse">
            <a:avLst/>
          </a:prstGeom>
          <a:solidFill>
            <a:srgbClr val="28777B">
              <a:alpha val="2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7C28C85-0AF2-60B6-A953-C624239741B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381000"/>
            <a:ext cx="457200" cy="457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B3D41AD-E213-1340-C161-B6903274615E}"/>
              </a:ext>
            </a:extLst>
          </p:cNvPr>
          <p:cNvSpPr txBox="1"/>
          <p:nvPr userDrawn="1"/>
        </p:nvSpPr>
        <p:spPr>
          <a:xfrm>
            <a:off x="1168400" y="370617"/>
            <a:ext cx="646011" cy="3231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l"/>
            <a:r>
              <a:rPr lang="en-GB" sz="2100" b="1">
                <a:solidFill>
                  <a:srgbClr val="FFFFFF"/>
                </a:solidFill>
                <a:latin typeface="Aptos Display" panose="020B0004020202020204" pitchFamily="34" charset="0"/>
              </a:rPr>
              <a:t>LibeR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86670B84-0BA3-46B8-73A4-797BEE1C7345}"/>
              </a:ext>
            </a:extLst>
          </p:cNvPr>
          <p:cNvSpPr>
            <a:spLocks noGrp="1"/>
          </p:cNvSpPr>
          <p:nvPr>
            <p:ph type="ctrTitle" idx="10"/>
          </p:nvPr>
        </p:nvSpPr>
        <p:spPr>
          <a:xfrm>
            <a:off x="1143000" y="1397000"/>
            <a:ext cx="9906000" cy="1016000"/>
          </a:xfrm>
        </p:spPr>
        <p:txBody>
          <a:bodyPr lIns="0" tIns="0" rIns="0" bIns="0">
            <a:normAutofit/>
          </a:bodyPr>
          <a:lstStyle>
            <a:lvl1pPr>
              <a:defRPr sz="3400" b="1">
                <a:solidFill>
                  <a:srgbClr val="FFFFFF"/>
                </a:solidFill>
                <a:latin typeface="Aptos Display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32BAC5DE-5BF4-F5D2-6CD4-DF5CFB98331C}"/>
              </a:ext>
            </a:extLst>
          </p:cNvPr>
          <p:cNvSpPr>
            <a:spLocks noGrp="1"/>
          </p:cNvSpPr>
          <p:nvPr>
            <p:ph type="subTitle" idx="11"/>
          </p:nvPr>
        </p:nvSpPr>
        <p:spPr>
          <a:xfrm>
            <a:off x="1651000" y="2540000"/>
            <a:ext cx="8890000" cy="914400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800" b="0">
                <a:solidFill>
                  <a:srgbClr val="D4DEE7"/>
                </a:solidFill>
                <a:latin typeface="Aptos" panose="020B00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7060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62B5B0-AEF0-31C5-B4D0-A50C1A1F1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860395-FD1A-79BD-DA0A-071918306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49A4E-6191-C37C-49B7-856E4BF5C1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29AEA1-FD47-40BF-B499-C6B87CDC3AB1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81CF9-47AB-4828-D1E4-DFD3D10CBD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45940-A30C-63A4-88EE-668023E4E6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5D903D-E81D-4051-A55E-9009B16617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1200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EB2C577-0455-F584-49E5-0E3525093713}"/>
              </a:ext>
            </a:extLst>
          </p:cNvPr>
          <p:cNvSpPr/>
          <p:nvPr/>
        </p:nvSpPr>
        <p:spPr>
          <a:xfrm>
            <a:off x="4000500" y="375514"/>
            <a:ext cx="4191000" cy="342900"/>
          </a:xfrm>
          <a:prstGeom prst="roundRect">
            <a:avLst/>
          </a:prstGeom>
          <a:solidFill>
            <a:srgbClr val="4D7F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</a:rPr>
              <a:t>OPEN-SOURCE POPULATION PK/PD MODELLING</a:t>
            </a:r>
            <a:endParaRPr lang="en-GB" sz="12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C341C4-DB8E-330A-3A12-9F8C22E81EE2}"/>
              </a:ext>
            </a:extLst>
          </p:cNvPr>
          <p:cNvSpPr txBox="1"/>
          <p:nvPr/>
        </p:nvSpPr>
        <p:spPr>
          <a:xfrm>
            <a:off x="698500" y="2032000"/>
            <a:ext cx="1261564" cy="630942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r>
              <a:rPr lang="en-GB" sz="4100" b="1">
                <a:solidFill>
                  <a:srgbClr val="FFFFFF"/>
                </a:solidFill>
                <a:latin typeface="Aptos Display" panose="020B0004020202020204" pitchFamily="34" charset="0"/>
              </a:rPr>
              <a:t>LibeR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AF7A50-0E52-2BC4-9EF2-1570B06C52C5}"/>
              </a:ext>
            </a:extLst>
          </p:cNvPr>
          <p:cNvSpPr txBox="1"/>
          <p:nvPr/>
        </p:nvSpPr>
        <p:spPr>
          <a:xfrm>
            <a:off x="698500" y="2768600"/>
            <a:ext cx="7112000" cy="92333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3000" b="1">
                <a:solidFill>
                  <a:srgbClr val="DCE6EE"/>
                </a:solidFill>
                <a:latin typeface="Aptos Display" panose="020B0004020202020204" pitchFamily="34" charset="0"/>
              </a:rPr>
              <a:t>From model code to a complete
pharmacometrics workflow</a:t>
            </a:r>
            <a:endParaRPr lang="en-GB" sz="3000" b="1">
              <a:solidFill>
                <a:srgbClr val="DCE6EE"/>
              </a:solidFill>
              <a:latin typeface="Aptos Display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F1D132-2BFC-5193-5A7D-6548543FDDE8}"/>
              </a:ext>
            </a:extLst>
          </p:cNvPr>
          <p:cNvSpPr txBox="1"/>
          <p:nvPr/>
        </p:nvSpPr>
        <p:spPr>
          <a:xfrm>
            <a:off x="736600" y="4279900"/>
            <a:ext cx="82550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600">
                <a:solidFill>
                  <a:srgbClr val="AFC1D0"/>
                </a:solidFill>
                <a:latin typeface="Aptos" panose="020B0004020202020204" pitchFamily="34" charset="0"/>
              </a:rPr>
              <a:t>Automatic differentiation • PK/PD algorithms • GUI • scalable execution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3BAF97-EDE6-0586-84A8-6648F64FA6FE}"/>
              </a:ext>
            </a:extLst>
          </p:cNvPr>
          <p:cNvSpPr txBox="1"/>
          <p:nvPr/>
        </p:nvSpPr>
        <p:spPr>
          <a:xfrm>
            <a:off x="736600" y="5913566"/>
            <a:ext cx="2746073" cy="184666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GB" sz="1200" dirty="0">
                <a:solidFill>
                  <a:srgbClr val="AFC1D0"/>
                </a:solidFill>
                <a:latin typeface="Aptos" panose="020B0004020202020204" pitchFamily="34" charset="0"/>
              </a:rPr>
              <a:t>Sven C. van Dijkman  |  UCL |  16 July 2026</a:t>
            </a:r>
          </a:p>
        </p:txBody>
      </p:sp>
    </p:spTree>
    <p:extLst>
      <p:ext uri="{BB962C8B-B14F-4D97-AF65-F5344CB8AC3E}">
        <p14:creationId xmlns:p14="http://schemas.microsoft.com/office/powerpoint/2010/main" val="1667610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EFFA8D-E071-E1F9-40B2-3BD24AF98AF0}"/>
              </a:ext>
            </a:extLst>
          </p:cNvPr>
          <p:cNvSpPr txBox="1"/>
          <p:nvPr/>
        </p:nvSpPr>
        <p:spPr>
          <a:xfrm>
            <a:off x="546100" y="825500"/>
            <a:ext cx="110490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700" b="1">
                <a:solidFill>
                  <a:srgbClr val="23384D"/>
                </a:solidFill>
                <a:latin typeface="Aptos Display" panose="020B0004020202020204" pitchFamily="34" charset="0"/>
              </a:rPr>
              <a:t>From model code to reliable derivatives</a:t>
            </a:r>
            <a:endParaRPr lang="en-GB" sz="2700" b="1">
              <a:solidFill>
                <a:srgbClr val="23384D"/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295929-BCA4-4A28-9250-F6EE6AFD2B50}"/>
              </a:ext>
            </a:extLst>
          </p:cNvPr>
          <p:cNvSpPr txBox="1"/>
          <p:nvPr/>
        </p:nvSpPr>
        <p:spPr>
          <a:xfrm>
            <a:off x="558800" y="1333500"/>
            <a:ext cx="110490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00">
                <a:solidFill>
                  <a:srgbClr val="65727E"/>
                </a:solidFill>
                <a:latin typeface="Aptos" panose="020B0004020202020204" pitchFamily="34" charset="0"/>
              </a:rPr>
              <a:t>LibeRtAD turns an R or C++ model into a native C++ calculation graph.</a:t>
            </a:r>
            <a:endParaRPr lang="en-GB" sz="1300">
              <a:solidFill>
                <a:srgbClr val="65727E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FF80785-3092-FBCE-98B0-D85251358F1F}"/>
              </a:ext>
            </a:extLst>
          </p:cNvPr>
          <p:cNvSpPr/>
          <p:nvPr/>
        </p:nvSpPr>
        <p:spPr>
          <a:xfrm>
            <a:off x="609600" y="1905000"/>
            <a:ext cx="3175000" cy="1955800"/>
          </a:xfrm>
          <a:prstGeom prst="roundRect">
            <a:avLst/>
          </a:prstGeom>
          <a:solidFill>
            <a:srgbClr val="E7EFF5"/>
          </a:solidFill>
          <a:ln w="10795" cap="flat" cmpd="sng" algn="ctr">
            <a:solidFill>
              <a:srgbClr val="CCD5DC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25400" dir="5400000" rotWithShape="0">
              <a:scrgbClr r="0" g="0" b="0">
                <a:alpha val="1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3DDFC06-79E0-9457-986B-4BBDF4308B3A}"/>
              </a:ext>
            </a:extLst>
          </p:cNvPr>
          <p:cNvSpPr/>
          <p:nvPr/>
        </p:nvSpPr>
        <p:spPr>
          <a:xfrm>
            <a:off x="838200" y="2133600"/>
            <a:ext cx="508000" cy="508000"/>
          </a:xfrm>
          <a:prstGeom prst="ellipse">
            <a:avLst/>
          </a:prstGeom>
          <a:solidFill>
            <a:srgbClr val="4D7F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067EF5-5F38-893D-8986-7D02A60A4698}"/>
              </a:ext>
            </a:extLst>
          </p:cNvPr>
          <p:cNvSpPr txBox="1"/>
          <p:nvPr/>
        </p:nvSpPr>
        <p:spPr>
          <a:xfrm>
            <a:off x="838200" y="2133600"/>
            <a:ext cx="508000" cy="5080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GB" sz="1400" b="1">
                <a:solidFill>
                  <a:srgbClr val="FFFFFF"/>
                </a:solidFill>
                <a:latin typeface="Consolas" panose="020B0609020204030204" pitchFamily="49" charset="0"/>
              </a:rPr>
              <a:t>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496EDA-0533-B756-9260-01FB2B632D22}"/>
              </a:ext>
            </a:extLst>
          </p:cNvPr>
          <p:cNvSpPr txBox="1"/>
          <p:nvPr/>
        </p:nvSpPr>
        <p:spPr>
          <a:xfrm>
            <a:off x="1498600" y="2159000"/>
            <a:ext cx="551433" cy="15388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4D7FA8"/>
                </a:solidFill>
                <a:latin typeface="Aptos" panose="020B0004020202020204" pitchFamily="34" charset="0"/>
              </a:rPr>
              <a:t>1  MODEL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B305DA-FF44-28AA-9793-F500DFE3DFEF}"/>
              </a:ext>
            </a:extLst>
          </p:cNvPr>
          <p:cNvSpPr txBox="1"/>
          <p:nvPr/>
        </p:nvSpPr>
        <p:spPr>
          <a:xfrm>
            <a:off x="838200" y="2679700"/>
            <a:ext cx="27178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600" b="1">
                <a:solidFill>
                  <a:srgbClr val="23384D"/>
                </a:solidFill>
                <a:latin typeface="Aptos Display" panose="020B0004020202020204" pitchFamily="34" charset="0"/>
              </a:rPr>
              <a:t>Write what you mean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FC17DF-7DE2-CD7D-DE40-66A89679C298}"/>
              </a:ext>
            </a:extLst>
          </p:cNvPr>
          <p:cNvSpPr txBox="1"/>
          <p:nvPr/>
        </p:nvSpPr>
        <p:spPr>
          <a:xfrm>
            <a:off x="838200" y="3314700"/>
            <a:ext cx="2717800" cy="3539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50">
                <a:solidFill>
                  <a:srgbClr val="1F2B36"/>
                </a:solidFill>
                <a:latin typeface="Aptos" panose="020B0004020202020204" pitchFamily="34" charset="0"/>
              </a:rPr>
              <a:t>R code, C++ code, or an imported NONMEM control stream</a:t>
            </a:r>
            <a:endParaRPr lang="en-GB" sz="1150">
              <a:solidFill>
                <a:srgbClr val="1F2B36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1DF164A-0705-9D74-803E-EBCC2E2A2D5B}"/>
              </a:ext>
            </a:extLst>
          </p:cNvPr>
          <p:cNvSpPr/>
          <p:nvPr/>
        </p:nvSpPr>
        <p:spPr>
          <a:xfrm>
            <a:off x="4495800" y="1905000"/>
            <a:ext cx="3175000" cy="1955800"/>
          </a:xfrm>
          <a:prstGeom prst="roundRect">
            <a:avLst/>
          </a:prstGeom>
          <a:solidFill>
            <a:srgbClr val="E5F0F0"/>
          </a:solidFill>
          <a:ln w="10795" cap="flat" cmpd="sng" algn="ctr">
            <a:solidFill>
              <a:srgbClr val="CCD5DC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25400" dir="5400000" rotWithShape="0">
              <a:scrgbClr r="0" g="0" b="0">
                <a:alpha val="1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BF133D1-309D-8245-A48F-DE33C8F1CFD0}"/>
              </a:ext>
            </a:extLst>
          </p:cNvPr>
          <p:cNvSpPr/>
          <p:nvPr/>
        </p:nvSpPr>
        <p:spPr>
          <a:xfrm>
            <a:off x="4724400" y="2133600"/>
            <a:ext cx="508000" cy="508000"/>
          </a:xfrm>
          <a:prstGeom prst="ellipse">
            <a:avLst/>
          </a:prstGeom>
          <a:solidFill>
            <a:srgbClr val="28777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ACE1B2-EE7F-34B8-A9C7-4B3454BECEB3}"/>
              </a:ext>
            </a:extLst>
          </p:cNvPr>
          <p:cNvSpPr txBox="1"/>
          <p:nvPr/>
        </p:nvSpPr>
        <p:spPr>
          <a:xfrm>
            <a:off x="4724400" y="2133600"/>
            <a:ext cx="508000" cy="5080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GB" sz="1400" b="1">
                <a:solidFill>
                  <a:srgbClr val="FFFFFF"/>
                </a:solidFill>
                <a:latin typeface="Aptos Display" panose="020B0004020202020204" pitchFamily="34" charset="0"/>
              </a:rPr>
              <a:t>AD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CDB44B-795E-F8B5-BA7F-5F2D8DB79D5C}"/>
              </a:ext>
            </a:extLst>
          </p:cNvPr>
          <p:cNvSpPr txBox="1"/>
          <p:nvPr/>
        </p:nvSpPr>
        <p:spPr>
          <a:xfrm>
            <a:off x="5384800" y="2159000"/>
            <a:ext cx="1030731" cy="15388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28777B"/>
                </a:solidFill>
                <a:latin typeface="Aptos" panose="020B0004020202020204" pitchFamily="34" charset="0"/>
              </a:rPr>
              <a:t>2  DIFFERENTIATE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BFF500-1562-5AAF-6C98-1A01036F11B2}"/>
              </a:ext>
            </a:extLst>
          </p:cNvPr>
          <p:cNvSpPr txBox="1"/>
          <p:nvPr/>
        </p:nvSpPr>
        <p:spPr>
          <a:xfrm>
            <a:off x="4724400" y="2679700"/>
            <a:ext cx="27178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600" b="1">
                <a:solidFill>
                  <a:srgbClr val="23384D"/>
                </a:solidFill>
                <a:latin typeface="Aptos Display" panose="020B0004020202020204" pitchFamily="34" charset="0"/>
              </a:rPr>
              <a:t>Get exact sensitivities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4BA4B4-C687-E2B2-E620-AB4EBE8709CC}"/>
              </a:ext>
            </a:extLst>
          </p:cNvPr>
          <p:cNvSpPr txBox="1"/>
          <p:nvPr/>
        </p:nvSpPr>
        <p:spPr>
          <a:xfrm>
            <a:off x="4724400" y="3314700"/>
            <a:ext cx="2717800" cy="3539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50">
                <a:solidFill>
                  <a:srgbClr val="1F2B36"/>
                </a:solidFill>
                <a:latin typeface="Aptos" panose="020B0004020202020204" pitchFamily="34" charset="0"/>
              </a:rPr>
              <a:t>CppAD records the calculation and supplies gradients and curvature</a:t>
            </a:r>
            <a:endParaRPr lang="en-GB" sz="1150">
              <a:solidFill>
                <a:srgbClr val="1F2B36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06417A1-DDC0-6C06-3C69-7267C2AFB0E0}"/>
              </a:ext>
            </a:extLst>
          </p:cNvPr>
          <p:cNvSpPr/>
          <p:nvPr/>
        </p:nvSpPr>
        <p:spPr>
          <a:xfrm>
            <a:off x="8382000" y="1905000"/>
            <a:ext cx="3175000" cy="1955800"/>
          </a:xfrm>
          <a:prstGeom prst="roundRect">
            <a:avLst/>
          </a:prstGeom>
          <a:solidFill>
            <a:srgbClr val="ECE9F2"/>
          </a:solidFill>
          <a:ln w="10795" cap="flat" cmpd="sng" algn="ctr">
            <a:solidFill>
              <a:srgbClr val="CCD5DC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25400" dir="5400000" rotWithShape="0">
              <a:scrgbClr r="0" g="0" b="0">
                <a:alpha val="1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B5DF788-1444-8F2F-9699-F3F5A1F4A389}"/>
              </a:ext>
            </a:extLst>
          </p:cNvPr>
          <p:cNvSpPr/>
          <p:nvPr/>
        </p:nvSpPr>
        <p:spPr>
          <a:xfrm>
            <a:off x="8610600" y="2133600"/>
            <a:ext cx="508000" cy="508000"/>
          </a:xfrm>
          <a:prstGeom prst="ellipse">
            <a:avLst/>
          </a:prstGeom>
          <a:solidFill>
            <a:srgbClr val="66558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FD45CE-0A5F-6C7E-54C1-7210E024FD43}"/>
              </a:ext>
            </a:extLst>
          </p:cNvPr>
          <p:cNvSpPr txBox="1"/>
          <p:nvPr/>
        </p:nvSpPr>
        <p:spPr>
          <a:xfrm>
            <a:off x="8610600" y="2133600"/>
            <a:ext cx="508000" cy="5080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GB" sz="1400" b="1">
                <a:solidFill>
                  <a:srgbClr val="FFFFFF"/>
                </a:solidFill>
                <a:latin typeface="Aptos Display" panose="020B0004020202020204" pitchFamily="34" charset="0"/>
              </a:rPr>
              <a:t>PK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D51704-2408-D883-C123-83769FFFE555}"/>
              </a:ext>
            </a:extLst>
          </p:cNvPr>
          <p:cNvSpPr txBox="1"/>
          <p:nvPr/>
        </p:nvSpPr>
        <p:spPr>
          <a:xfrm>
            <a:off x="9271000" y="2159000"/>
            <a:ext cx="697307" cy="15388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66558D"/>
                </a:solidFill>
                <a:latin typeface="Aptos" panose="020B0004020202020204" pitchFamily="34" charset="0"/>
              </a:rPr>
              <a:t>3  ESTIMATE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1302ED-6671-8836-D54C-A9C867A0739D}"/>
              </a:ext>
            </a:extLst>
          </p:cNvPr>
          <p:cNvSpPr txBox="1"/>
          <p:nvPr/>
        </p:nvSpPr>
        <p:spPr>
          <a:xfrm>
            <a:off x="8610600" y="2679700"/>
            <a:ext cx="2717800" cy="4924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600" b="1">
                <a:solidFill>
                  <a:srgbClr val="23384D"/>
                </a:solidFill>
                <a:latin typeface="Aptos Display" panose="020B0004020202020204" pitchFamily="34" charset="0"/>
              </a:rPr>
              <a:t>Use pharmacometric algorithms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AD5011-7D6B-7F75-5B10-1525CB7168F1}"/>
              </a:ext>
            </a:extLst>
          </p:cNvPr>
          <p:cNvSpPr txBox="1"/>
          <p:nvPr/>
        </p:nvSpPr>
        <p:spPr>
          <a:xfrm>
            <a:off x="8610600" y="3314700"/>
            <a:ext cx="2717800" cy="3539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50">
                <a:solidFill>
                  <a:srgbClr val="1F2B36"/>
                </a:solidFill>
                <a:latin typeface="Aptos" panose="020B0004020202020204" pitchFamily="34" charset="0"/>
              </a:rPr>
              <a:t>FOCEI, Laplace, ITS, IMP, SAEM, Bayesian methods and more</a:t>
            </a:r>
            <a:endParaRPr lang="en-GB" sz="1150">
              <a:solidFill>
                <a:srgbClr val="1F2B36"/>
              </a:solidFill>
              <a:latin typeface="Aptos" panose="020B0004020202020204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B9E1350-A97C-B385-2F0D-C9BA09FD916F}"/>
              </a:ext>
            </a:extLst>
          </p:cNvPr>
          <p:cNvCxnSpPr/>
          <p:nvPr/>
        </p:nvCxnSpPr>
        <p:spPr>
          <a:xfrm>
            <a:off x="3873500" y="2882900"/>
            <a:ext cx="495300" cy="0"/>
          </a:xfrm>
          <a:prstGeom prst="straightConnector1">
            <a:avLst/>
          </a:prstGeom>
          <a:ln w="27940" cap="flat" cmpd="sng" algn="ctr">
            <a:solidFill>
              <a:srgbClr val="4D7FA8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F9EB46C-5613-B770-0003-B79D369D307E}"/>
              </a:ext>
            </a:extLst>
          </p:cNvPr>
          <p:cNvCxnSpPr/>
          <p:nvPr/>
        </p:nvCxnSpPr>
        <p:spPr>
          <a:xfrm>
            <a:off x="7759700" y="2882900"/>
            <a:ext cx="495300" cy="0"/>
          </a:xfrm>
          <a:prstGeom prst="straightConnector1">
            <a:avLst/>
          </a:prstGeom>
          <a:ln w="27940" cap="flat" cmpd="sng" algn="ctr">
            <a:solidFill>
              <a:srgbClr val="28777B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4DFB144-702E-2A7B-8EAA-52627DD785A0}"/>
              </a:ext>
            </a:extLst>
          </p:cNvPr>
          <p:cNvSpPr/>
          <p:nvPr/>
        </p:nvSpPr>
        <p:spPr>
          <a:xfrm>
            <a:off x="609600" y="4178300"/>
            <a:ext cx="10947400" cy="863600"/>
          </a:xfrm>
          <a:prstGeom prst="roundRect">
            <a:avLst/>
          </a:prstGeom>
          <a:solidFill>
            <a:srgbClr val="23384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25ED27-A9A0-590C-9457-BF3A0C4A2DCF}"/>
              </a:ext>
            </a:extLst>
          </p:cNvPr>
          <p:cNvSpPr txBox="1"/>
          <p:nvPr/>
        </p:nvSpPr>
        <p:spPr>
          <a:xfrm>
            <a:off x="863600" y="4432672"/>
            <a:ext cx="1269835" cy="20005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Aptos Display" panose="020B0004020202020204" pitchFamily="34" charset="0"/>
              </a:rPr>
              <a:t>What this unlocks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CD5E46C-6806-8E97-B96A-B9F94E467C72}"/>
              </a:ext>
            </a:extLst>
          </p:cNvPr>
          <p:cNvSpPr/>
          <p:nvPr/>
        </p:nvSpPr>
        <p:spPr>
          <a:xfrm>
            <a:off x="2768600" y="4394200"/>
            <a:ext cx="2159000" cy="393700"/>
          </a:xfrm>
          <a:prstGeom prst="roundRect">
            <a:avLst/>
          </a:prstGeom>
          <a:solidFill>
            <a:srgbClr val="35536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6BB78B-0B20-CF43-ED3C-9B2AC98E67E2}"/>
              </a:ext>
            </a:extLst>
          </p:cNvPr>
          <p:cNvSpPr txBox="1"/>
          <p:nvPr/>
        </p:nvSpPr>
        <p:spPr>
          <a:xfrm>
            <a:off x="2768600" y="4440366"/>
            <a:ext cx="2159000" cy="312906"/>
          </a:xfrm>
          <a:prstGeom prst="rect">
            <a:avLst/>
          </a:prstGeom>
          <a:noFill/>
        </p:spPr>
        <p:txBody>
          <a:bodyPr vert="horz" wrap="square" lIns="63500" tIns="63500" rIns="63500" bIns="63500" rtlCol="0" anchor="ctr">
            <a:spAutoFit/>
          </a:bodyPr>
          <a:lstStyle/>
          <a:p>
            <a:pPr algn="ctr"/>
            <a:r>
              <a:rPr lang="en-GB" sz="1200" b="1">
                <a:solidFill>
                  <a:srgbClr val="FFFFFF"/>
                </a:solidFill>
                <a:latin typeface="Aptos" panose="020B0004020202020204" pitchFamily="34" charset="0"/>
              </a:rPr>
              <a:t>Stable optimisation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83DCE06-4990-F8FD-C20D-BCBB32DCCA94}"/>
              </a:ext>
            </a:extLst>
          </p:cNvPr>
          <p:cNvSpPr/>
          <p:nvPr/>
        </p:nvSpPr>
        <p:spPr>
          <a:xfrm>
            <a:off x="5130800" y="4394200"/>
            <a:ext cx="1968500" cy="393700"/>
          </a:xfrm>
          <a:prstGeom prst="roundRect">
            <a:avLst/>
          </a:prstGeom>
          <a:solidFill>
            <a:srgbClr val="3566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439334-8600-702E-6716-A5C4279155B5}"/>
              </a:ext>
            </a:extLst>
          </p:cNvPr>
          <p:cNvSpPr txBox="1"/>
          <p:nvPr/>
        </p:nvSpPr>
        <p:spPr>
          <a:xfrm>
            <a:off x="5130800" y="4440366"/>
            <a:ext cx="1968500" cy="312906"/>
          </a:xfrm>
          <a:prstGeom prst="rect">
            <a:avLst/>
          </a:prstGeom>
          <a:noFill/>
        </p:spPr>
        <p:txBody>
          <a:bodyPr vert="horz" wrap="square" lIns="63500" tIns="63500" rIns="63500" bIns="63500" rtlCol="0" anchor="ctr">
            <a:spAutoFit/>
          </a:bodyPr>
          <a:lstStyle/>
          <a:p>
            <a:pPr algn="ctr"/>
            <a:r>
              <a:rPr lang="en-GB" sz="1200" b="1">
                <a:solidFill>
                  <a:srgbClr val="FFFFFF"/>
                </a:solidFill>
                <a:latin typeface="Aptos" panose="020B0004020202020204" pitchFamily="34" charset="0"/>
              </a:rPr>
              <a:t>Fast uncertainty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DBA59E0-9C64-A9E3-4210-BDEDE7961A45}"/>
              </a:ext>
            </a:extLst>
          </p:cNvPr>
          <p:cNvSpPr/>
          <p:nvPr/>
        </p:nvSpPr>
        <p:spPr>
          <a:xfrm>
            <a:off x="7302500" y="4394200"/>
            <a:ext cx="2514600" cy="393700"/>
          </a:xfrm>
          <a:prstGeom prst="roundRect">
            <a:avLst/>
          </a:prstGeom>
          <a:solidFill>
            <a:srgbClr val="3E647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FE7D0D-49E4-1913-1BF9-5A8AA05C10EF}"/>
              </a:ext>
            </a:extLst>
          </p:cNvPr>
          <p:cNvSpPr txBox="1"/>
          <p:nvPr/>
        </p:nvSpPr>
        <p:spPr>
          <a:xfrm>
            <a:off x="7302500" y="4440366"/>
            <a:ext cx="2514600" cy="312906"/>
          </a:xfrm>
          <a:prstGeom prst="rect">
            <a:avLst/>
          </a:prstGeom>
          <a:noFill/>
        </p:spPr>
        <p:txBody>
          <a:bodyPr vert="horz" wrap="square" lIns="63500" tIns="63500" rIns="63500" bIns="63500" rtlCol="0" anchor="ctr">
            <a:spAutoFit/>
          </a:bodyPr>
          <a:lstStyle/>
          <a:p>
            <a:pPr algn="ctr"/>
            <a:r>
              <a:rPr lang="en-GB" sz="1200" b="1">
                <a:solidFill>
                  <a:srgbClr val="FFFFFF"/>
                </a:solidFill>
                <a:latin typeface="Aptos" panose="020B0004020202020204" pitchFamily="34" charset="0"/>
              </a:rPr>
              <a:t>Transparent diagnostics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54D0FB3-35B9-CB64-5F6D-C27E0FFFDF48}"/>
              </a:ext>
            </a:extLst>
          </p:cNvPr>
          <p:cNvSpPr/>
          <p:nvPr/>
        </p:nvSpPr>
        <p:spPr>
          <a:xfrm>
            <a:off x="10020300" y="4394200"/>
            <a:ext cx="1282700" cy="393700"/>
          </a:xfrm>
          <a:prstGeom prst="roundRect">
            <a:avLst/>
          </a:prstGeom>
          <a:solidFill>
            <a:srgbClr val="4D466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85CE83E-70FE-44B0-FE79-245593D37533}"/>
              </a:ext>
            </a:extLst>
          </p:cNvPr>
          <p:cNvSpPr txBox="1"/>
          <p:nvPr/>
        </p:nvSpPr>
        <p:spPr>
          <a:xfrm>
            <a:off x="10020300" y="4451908"/>
            <a:ext cx="1282700" cy="289823"/>
          </a:xfrm>
          <a:prstGeom prst="rect">
            <a:avLst/>
          </a:prstGeom>
          <a:noFill/>
        </p:spPr>
        <p:txBody>
          <a:bodyPr vert="horz" wrap="square" lIns="63500" tIns="63500" rIns="63500" bIns="63500" rtlCol="0" anchor="ctr">
            <a:spAutoFit/>
          </a:bodyPr>
          <a:lstStyle/>
          <a:p>
            <a:pPr algn="ctr"/>
            <a:r>
              <a:rPr lang="en-GB" sz="1050" b="1">
                <a:solidFill>
                  <a:srgbClr val="FFFFFF"/>
                </a:solidFill>
                <a:latin typeface="Aptos" panose="020B0004020202020204" pitchFamily="34" charset="0"/>
              </a:rPr>
              <a:t>Reusable engine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CD2394B-571D-E9F8-B770-01B6506C0592}"/>
              </a:ext>
            </a:extLst>
          </p:cNvPr>
          <p:cNvSpPr/>
          <p:nvPr/>
        </p:nvSpPr>
        <p:spPr>
          <a:xfrm>
            <a:off x="609600" y="5372100"/>
            <a:ext cx="10947400" cy="723900"/>
          </a:xfrm>
          <a:prstGeom prst="roundRect">
            <a:avLst/>
          </a:prstGeom>
          <a:solidFill>
            <a:srgbClr val="F4EEE5"/>
          </a:solidFill>
          <a:ln w="10160" cap="flat" cmpd="sng" algn="ctr">
            <a:solidFill>
              <a:srgbClr val="A3723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0938837-3E12-6EB7-2ECE-8F4AA5B98A13}"/>
              </a:ext>
            </a:extLst>
          </p:cNvPr>
          <p:cNvSpPr txBox="1"/>
          <p:nvPr/>
        </p:nvSpPr>
        <p:spPr>
          <a:xfrm>
            <a:off x="863600" y="5621466"/>
            <a:ext cx="1628523" cy="184666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GB" sz="1200" b="1">
                <a:solidFill>
                  <a:srgbClr val="A37232"/>
                </a:solidFill>
                <a:latin typeface="Aptos" panose="020B0004020202020204" pitchFamily="34" charset="0"/>
              </a:rPr>
              <a:t>Pharmacometrics joke: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58AC542-EC98-BD6A-CFEE-59F8C01935EC}"/>
              </a:ext>
            </a:extLst>
          </p:cNvPr>
          <p:cNvSpPr txBox="1"/>
          <p:nvPr/>
        </p:nvSpPr>
        <p:spPr>
          <a:xfrm>
            <a:off x="2794000" y="5613772"/>
            <a:ext cx="5447069" cy="20005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sz="1300">
                <a:solidFill>
                  <a:srgbClr val="1F2B36"/>
                </a:solidFill>
                <a:latin typeface="Aptos" panose="020B0004020202020204" pitchFamily="34" charset="0"/>
              </a:rPr>
              <a:t>AD does not remove uncertainty — it just stops the optimiser adding its own.</a:t>
            </a:r>
            <a:endParaRPr lang="en-GB" sz="1300">
              <a:solidFill>
                <a:srgbClr val="1F2B36"/>
              </a:solidFill>
              <a:latin typeface="Aptos" panose="020B00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EBE9EEB-465B-17E9-FC4C-0EE56091CBFD}"/>
              </a:ext>
            </a:extLst>
          </p:cNvPr>
          <p:cNvSpPr txBox="1"/>
          <p:nvPr/>
        </p:nvSpPr>
        <p:spPr>
          <a:xfrm>
            <a:off x="11303000" y="6527800"/>
            <a:ext cx="60914" cy="1384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65727E"/>
                </a:solidFill>
                <a:latin typeface="Aptos" panose="020B00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09628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A8EEE0-4CF4-2FB0-F40E-1EF3286295DB}"/>
              </a:ext>
            </a:extLst>
          </p:cNvPr>
          <p:cNvSpPr txBox="1"/>
          <p:nvPr/>
        </p:nvSpPr>
        <p:spPr>
          <a:xfrm>
            <a:off x="546100" y="825500"/>
            <a:ext cx="110490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700" b="1">
                <a:solidFill>
                  <a:srgbClr val="23384D"/>
                </a:solidFill>
                <a:latin typeface="Aptos Display" panose="020B0004020202020204" pitchFamily="34" charset="0"/>
              </a:rPr>
              <a:t>One ecosystem, three focused packages</a:t>
            </a:r>
            <a:endParaRPr lang="en-GB" sz="2700" b="1">
              <a:solidFill>
                <a:srgbClr val="23384D"/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05B536-C39F-FF30-1EC0-1F6E0E74F0D0}"/>
              </a:ext>
            </a:extLst>
          </p:cNvPr>
          <p:cNvSpPr txBox="1"/>
          <p:nvPr/>
        </p:nvSpPr>
        <p:spPr>
          <a:xfrm>
            <a:off x="558800" y="1333500"/>
            <a:ext cx="110490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00">
                <a:solidFill>
                  <a:srgbClr val="65727E"/>
                </a:solidFill>
                <a:latin typeface="Aptos" panose="020B0004020202020204" pitchFamily="34" charset="0"/>
              </a:rPr>
              <a:t>A single modelling workflow, with each package doing one job well.</a:t>
            </a:r>
            <a:endParaRPr lang="en-GB" sz="1300">
              <a:solidFill>
                <a:srgbClr val="65727E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608096F-09FC-3757-3DCC-9600C27C397E}"/>
              </a:ext>
            </a:extLst>
          </p:cNvPr>
          <p:cNvSpPr/>
          <p:nvPr/>
        </p:nvSpPr>
        <p:spPr>
          <a:xfrm>
            <a:off x="609600" y="1968500"/>
            <a:ext cx="2222500" cy="2819400"/>
          </a:xfrm>
          <a:prstGeom prst="roundRect">
            <a:avLst/>
          </a:prstGeom>
          <a:solidFill>
            <a:srgbClr val="FFFFFF"/>
          </a:solidFill>
          <a:ln w="10795" cap="flat" cmpd="sng" algn="ctr">
            <a:solidFill>
              <a:srgbClr val="CCD5DC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25400" dir="5400000" rotWithShape="0">
              <a:scrgbClr r="0" g="0" b="0">
                <a:alpha val="1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5892036-095E-AEF1-1478-8F7B76B4ECB0}"/>
              </a:ext>
            </a:extLst>
          </p:cNvPr>
          <p:cNvSpPr/>
          <p:nvPr/>
        </p:nvSpPr>
        <p:spPr>
          <a:xfrm>
            <a:off x="838200" y="2209800"/>
            <a:ext cx="1765300" cy="317500"/>
          </a:xfrm>
          <a:prstGeom prst="roundRect">
            <a:avLst/>
          </a:prstGeom>
          <a:solidFill>
            <a:srgbClr val="E7EF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5E23E2-3ACD-DF2D-DB19-2715A16657B6}"/>
              </a:ext>
            </a:extLst>
          </p:cNvPr>
          <p:cNvSpPr txBox="1"/>
          <p:nvPr/>
        </p:nvSpPr>
        <p:spPr>
          <a:xfrm>
            <a:off x="838200" y="2271355"/>
            <a:ext cx="1765300" cy="282129"/>
          </a:xfrm>
          <a:prstGeom prst="rect">
            <a:avLst/>
          </a:prstGeom>
          <a:noFill/>
        </p:spPr>
        <p:txBody>
          <a:bodyPr vert="horz" wrap="square" lIns="63500" tIns="63500" rIns="63500" bIns="63500" rtlCol="0" anchor="ctr">
            <a:spAutoFit/>
          </a:bodyPr>
          <a:lstStyle/>
          <a:p>
            <a:pPr algn="ctr"/>
            <a:r>
              <a:rPr lang="en-GB" sz="1000" b="1">
                <a:solidFill>
                  <a:srgbClr val="4D7FA8"/>
                </a:solidFill>
                <a:latin typeface="Aptos" panose="020B0004020202020204" pitchFamily="34" charset="0"/>
              </a:rPr>
              <a:t>YOU START HERE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67785B-DDA3-79AC-75DD-4485CAFB2CDF}"/>
              </a:ext>
            </a:extLst>
          </p:cNvPr>
          <p:cNvSpPr txBox="1"/>
          <p:nvPr/>
        </p:nvSpPr>
        <p:spPr>
          <a:xfrm>
            <a:off x="863600" y="2730500"/>
            <a:ext cx="1330172" cy="29238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r>
              <a:rPr lang="en-GB" sz="1900" b="1">
                <a:solidFill>
                  <a:srgbClr val="23384D"/>
                </a:solidFill>
                <a:latin typeface="Aptos Display" panose="020B0004020202020204" pitchFamily="34" charset="0"/>
              </a:rPr>
              <a:t>Model +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91081F-3B0C-BB71-46B4-25F8051721E7}"/>
              </a:ext>
            </a:extLst>
          </p:cNvPr>
          <p:cNvSpPr txBox="1"/>
          <p:nvPr/>
        </p:nvSpPr>
        <p:spPr>
          <a:xfrm>
            <a:off x="863600" y="3213100"/>
            <a:ext cx="1651000" cy="115416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250">
                <a:solidFill>
                  <a:srgbClr val="1F2B36"/>
                </a:solidFill>
                <a:latin typeface="Aptos" panose="020B0004020202020204" pitchFamily="34" charset="0"/>
              </a:rPr>
              <a:t>R model
C++ model
NONMEM control stream
Clinical / preclinical data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66DBBF0-46A1-BDB5-2BE7-653C5BD1E2CF}"/>
              </a:ext>
            </a:extLst>
          </p:cNvPr>
          <p:cNvSpPr/>
          <p:nvPr/>
        </p:nvSpPr>
        <p:spPr>
          <a:xfrm>
            <a:off x="3632200" y="1841500"/>
            <a:ext cx="4572000" cy="1701800"/>
          </a:xfrm>
          <a:prstGeom prst="roundRect">
            <a:avLst/>
          </a:prstGeom>
          <a:solidFill>
            <a:srgbClr val="E7EFF5"/>
          </a:solidFill>
          <a:ln w="10795" cap="flat" cmpd="sng" algn="ctr">
            <a:solidFill>
              <a:srgbClr val="4D7FA8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25400" dir="5400000" rotWithShape="0">
              <a:scrgbClr r="0" g="0" b="0">
                <a:alpha val="1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78BA6FA-F660-5601-35A6-13C3221B1504}"/>
              </a:ext>
            </a:extLst>
          </p:cNvPr>
          <p:cNvSpPr/>
          <p:nvPr/>
        </p:nvSpPr>
        <p:spPr>
          <a:xfrm>
            <a:off x="3886200" y="2082800"/>
            <a:ext cx="1333500" cy="304800"/>
          </a:xfrm>
          <a:prstGeom prst="roundRect">
            <a:avLst/>
          </a:prstGeom>
          <a:solidFill>
            <a:srgbClr val="4D7F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41BE65-CDD3-7ECD-5D66-D6F7B57512D5}"/>
              </a:ext>
            </a:extLst>
          </p:cNvPr>
          <p:cNvSpPr txBox="1"/>
          <p:nvPr/>
        </p:nvSpPr>
        <p:spPr>
          <a:xfrm>
            <a:off x="3886200" y="2144355"/>
            <a:ext cx="1333500" cy="282129"/>
          </a:xfrm>
          <a:prstGeom prst="rect">
            <a:avLst/>
          </a:prstGeom>
          <a:noFill/>
        </p:spPr>
        <p:txBody>
          <a:bodyPr vert="horz" wrap="square" lIns="63500" tIns="63500" rIns="63500" bIns="63500" rtlCol="0" anchor="ctr">
            <a:spAutoFit/>
          </a:bodyPr>
          <a:lstStyle/>
          <a:p>
            <a:pPr algn="ctr"/>
            <a:r>
              <a:rPr lang="en-GB" sz="1000" b="1">
                <a:solidFill>
                  <a:srgbClr val="FFFFFF"/>
                </a:solidFill>
                <a:latin typeface="Aptos" panose="020B0004020202020204" pitchFamily="34" charset="0"/>
              </a:rPr>
              <a:t>WORKBENCH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97CC15-F128-C228-7872-775956B67541}"/>
              </a:ext>
            </a:extLst>
          </p:cNvPr>
          <p:cNvSpPr txBox="1"/>
          <p:nvPr/>
        </p:nvSpPr>
        <p:spPr>
          <a:xfrm>
            <a:off x="3886200" y="2540000"/>
            <a:ext cx="1337482" cy="353943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r>
              <a:rPr lang="en-GB" sz="2300" b="1">
                <a:solidFill>
                  <a:srgbClr val="23384D"/>
                </a:solidFill>
                <a:latin typeface="Aptos Display" panose="020B0004020202020204" pitchFamily="34" charset="0"/>
              </a:rPr>
              <a:t>LibeRation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268E48-E22B-EEFD-F9B6-3D3C256D8B71}"/>
              </a:ext>
            </a:extLst>
          </p:cNvPr>
          <p:cNvSpPr txBox="1"/>
          <p:nvPr/>
        </p:nvSpPr>
        <p:spPr>
          <a:xfrm>
            <a:off x="3886200" y="2984500"/>
            <a:ext cx="3937000" cy="3847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250">
                <a:solidFill>
                  <a:srgbClr val="1F2B36"/>
                </a:solidFill>
                <a:latin typeface="Aptos" panose="020B0004020202020204" pitchFamily="34" charset="0"/>
              </a:rPr>
              <a:t>Projects • models • estimation • simulation • diagnostics • reports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688EDFA-7B41-636A-5F7A-35D971119326}"/>
              </a:ext>
            </a:extLst>
          </p:cNvPr>
          <p:cNvSpPr/>
          <p:nvPr/>
        </p:nvSpPr>
        <p:spPr>
          <a:xfrm>
            <a:off x="3632200" y="4025900"/>
            <a:ext cx="4572000" cy="1511300"/>
          </a:xfrm>
          <a:prstGeom prst="roundRect">
            <a:avLst/>
          </a:prstGeom>
          <a:solidFill>
            <a:srgbClr val="E5F0F0"/>
          </a:solidFill>
          <a:ln w="10795" cap="flat" cmpd="sng" algn="ctr">
            <a:solidFill>
              <a:srgbClr val="28777B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25400" dir="5400000" rotWithShape="0">
              <a:scrgbClr r="0" g="0" b="0">
                <a:alpha val="1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8BD9243-0CE8-037C-2161-B4B1C7B5F732}"/>
              </a:ext>
            </a:extLst>
          </p:cNvPr>
          <p:cNvSpPr/>
          <p:nvPr/>
        </p:nvSpPr>
        <p:spPr>
          <a:xfrm>
            <a:off x="3886200" y="4254500"/>
            <a:ext cx="1587500" cy="304800"/>
          </a:xfrm>
          <a:prstGeom prst="roundRect">
            <a:avLst/>
          </a:prstGeom>
          <a:solidFill>
            <a:srgbClr val="28777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B75629-D076-2BA4-AC8B-BBB919A796DB}"/>
              </a:ext>
            </a:extLst>
          </p:cNvPr>
          <p:cNvSpPr txBox="1"/>
          <p:nvPr/>
        </p:nvSpPr>
        <p:spPr>
          <a:xfrm>
            <a:off x="3886200" y="4316055"/>
            <a:ext cx="1587500" cy="282129"/>
          </a:xfrm>
          <a:prstGeom prst="rect">
            <a:avLst/>
          </a:prstGeom>
          <a:noFill/>
        </p:spPr>
        <p:txBody>
          <a:bodyPr vert="horz" wrap="square" lIns="63500" tIns="63500" rIns="63500" bIns="63500" rtlCol="0" anchor="ctr">
            <a:spAutoFit/>
          </a:bodyPr>
          <a:lstStyle/>
          <a:p>
            <a:pPr algn="ctr"/>
            <a:r>
              <a:rPr lang="en-GB" sz="1000" b="1">
                <a:solidFill>
                  <a:srgbClr val="FFFFFF"/>
                </a:solidFill>
                <a:latin typeface="Aptos" panose="020B0004020202020204" pitchFamily="34" charset="0"/>
              </a:rPr>
              <a:t>NUMERICAL CORE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50676F-2F68-820A-C8D7-13D238324F1D}"/>
              </a:ext>
            </a:extLst>
          </p:cNvPr>
          <p:cNvSpPr txBox="1"/>
          <p:nvPr/>
        </p:nvSpPr>
        <p:spPr>
          <a:xfrm>
            <a:off x="3886200" y="4711700"/>
            <a:ext cx="1082732" cy="323165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r>
              <a:rPr lang="en-GB" sz="2100" b="1">
                <a:solidFill>
                  <a:srgbClr val="23384D"/>
                </a:solidFill>
                <a:latin typeface="Aptos Display" panose="020B0004020202020204" pitchFamily="34" charset="0"/>
              </a:rPr>
              <a:t>LibeRtAD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F297A1-73AD-34FE-A1DC-023FDA686EDA}"/>
              </a:ext>
            </a:extLst>
          </p:cNvPr>
          <p:cNvSpPr txBox="1"/>
          <p:nvPr/>
        </p:nvSpPr>
        <p:spPr>
          <a:xfrm>
            <a:off x="3886200" y="5130800"/>
            <a:ext cx="40005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>
                <a:solidFill>
                  <a:srgbClr val="1F2B36"/>
                </a:solidFill>
                <a:latin typeface="Aptos" panose="020B0004020202020204" pitchFamily="34" charset="0"/>
              </a:rPr>
              <a:t>C++ automatic differentiation • ADVAN • ODE • steady state</a:t>
            </a:r>
            <a:endParaRPr lang="en-GB" sz="1200">
              <a:solidFill>
                <a:srgbClr val="1F2B36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8F805DA-50BC-6A02-417A-53E5CD0E73E3}"/>
              </a:ext>
            </a:extLst>
          </p:cNvPr>
          <p:cNvSpPr/>
          <p:nvPr/>
        </p:nvSpPr>
        <p:spPr>
          <a:xfrm>
            <a:off x="9017000" y="1841500"/>
            <a:ext cx="2565400" cy="3695700"/>
          </a:xfrm>
          <a:prstGeom prst="roundRect">
            <a:avLst/>
          </a:prstGeom>
          <a:solidFill>
            <a:srgbClr val="ECE9F2"/>
          </a:solidFill>
          <a:ln w="10795" cap="flat" cmpd="sng" algn="ctr">
            <a:solidFill>
              <a:srgbClr val="66558D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25400" dir="5400000" rotWithShape="0">
              <a:scrgbClr r="0" g="0" b="0">
                <a:alpha val="1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C15DA4C-4951-2C29-26AF-BA626EB291B3}"/>
              </a:ext>
            </a:extLst>
          </p:cNvPr>
          <p:cNvSpPr/>
          <p:nvPr/>
        </p:nvSpPr>
        <p:spPr>
          <a:xfrm>
            <a:off x="9283700" y="2082800"/>
            <a:ext cx="1219200" cy="304800"/>
          </a:xfrm>
          <a:prstGeom prst="roundRect">
            <a:avLst/>
          </a:prstGeom>
          <a:solidFill>
            <a:srgbClr val="66558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59A98F-FAA9-ECCF-04D1-5E6E2C877E88}"/>
              </a:ext>
            </a:extLst>
          </p:cNvPr>
          <p:cNvSpPr txBox="1"/>
          <p:nvPr/>
        </p:nvSpPr>
        <p:spPr>
          <a:xfrm>
            <a:off x="9283700" y="2144355"/>
            <a:ext cx="1219200" cy="282129"/>
          </a:xfrm>
          <a:prstGeom prst="rect">
            <a:avLst/>
          </a:prstGeom>
          <a:noFill/>
        </p:spPr>
        <p:txBody>
          <a:bodyPr vert="horz" wrap="square" lIns="63500" tIns="63500" rIns="63500" bIns="63500" rtlCol="0" anchor="ctr">
            <a:spAutoFit/>
          </a:bodyPr>
          <a:lstStyle/>
          <a:p>
            <a:pPr algn="ctr"/>
            <a:r>
              <a:rPr lang="en-GB" sz="1000" b="1">
                <a:solidFill>
                  <a:srgbClr val="FFFFFF"/>
                </a:solidFill>
                <a:latin typeface="Aptos" panose="020B0004020202020204" pitchFamily="34" charset="0"/>
              </a:rPr>
              <a:t>EXECUTION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B51C29-90E8-4048-5C6A-FDDF99128C72}"/>
              </a:ext>
            </a:extLst>
          </p:cNvPr>
          <p:cNvSpPr txBox="1"/>
          <p:nvPr/>
        </p:nvSpPr>
        <p:spPr>
          <a:xfrm>
            <a:off x="9283700" y="2552700"/>
            <a:ext cx="1119537" cy="338554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r>
              <a:rPr lang="en-GB" sz="2200" b="1">
                <a:solidFill>
                  <a:srgbClr val="23384D"/>
                </a:solidFill>
                <a:latin typeface="Aptos Display" panose="020B0004020202020204" pitchFamily="34" charset="0"/>
              </a:rPr>
              <a:t>LibeRties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661861-968B-32E9-BBD1-3D98B888AD78}"/>
              </a:ext>
            </a:extLst>
          </p:cNvPr>
          <p:cNvSpPr txBox="1"/>
          <p:nvPr/>
        </p:nvSpPr>
        <p:spPr>
          <a:xfrm>
            <a:off x="9283700" y="3175000"/>
            <a:ext cx="1841500" cy="80021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 dirty="0">
                <a:solidFill>
                  <a:srgbClr val="1F2B36"/>
                </a:solidFill>
                <a:latin typeface="Aptos" panose="020B0004020202020204" pitchFamily="34" charset="0"/>
              </a:rPr>
              <a:t>Remote server
User isolation
Durable jobs
Logs + results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D363482-1CE1-D99A-5E6E-1440EAFEB3DB}"/>
              </a:ext>
            </a:extLst>
          </p:cNvPr>
          <p:cNvSpPr/>
          <p:nvPr/>
        </p:nvSpPr>
        <p:spPr>
          <a:xfrm>
            <a:off x="9283700" y="4953000"/>
            <a:ext cx="2006600" cy="342900"/>
          </a:xfrm>
          <a:prstGeom prst="roundRect">
            <a:avLst/>
          </a:prstGeom>
          <a:solidFill>
            <a:srgbClr val="DCD7E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C6D789-D428-1ED7-AA41-124BBE1520A1}"/>
              </a:ext>
            </a:extLst>
          </p:cNvPr>
          <p:cNvSpPr txBox="1"/>
          <p:nvPr/>
        </p:nvSpPr>
        <p:spPr>
          <a:xfrm>
            <a:off x="9283700" y="5010708"/>
            <a:ext cx="2006600" cy="289823"/>
          </a:xfrm>
          <a:prstGeom prst="rect">
            <a:avLst/>
          </a:prstGeom>
          <a:noFill/>
        </p:spPr>
        <p:txBody>
          <a:bodyPr vert="horz" wrap="square" lIns="63500" tIns="63500" rIns="63500" bIns="63500" rtlCol="0" anchor="ctr">
            <a:spAutoFit/>
          </a:bodyPr>
          <a:lstStyle/>
          <a:p>
            <a:pPr algn="ctr"/>
            <a:r>
              <a:rPr lang="en-GB" sz="1050" b="1">
                <a:solidFill>
                  <a:srgbClr val="66558D"/>
                </a:solidFill>
                <a:latin typeface="Aptos" panose="020B0004020202020204" pitchFamily="34" charset="0"/>
              </a:rPr>
              <a:t>Windows • Linux • macOS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CC711EA-DC78-5E3A-A396-F8F0E69C9658}"/>
              </a:ext>
            </a:extLst>
          </p:cNvPr>
          <p:cNvCxnSpPr/>
          <p:nvPr/>
        </p:nvCxnSpPr>
        <p:spPr>
          <a:xfrm>
            <a:off x="2844800" y="3124200"/>
            <a:ext cx="660400" cy="0"/>
          </a:xfrm>
          <a:prstGeom prst="straightConnector1">
            <a:avLst/>
          </a:prstGeom>
          <a:ln w="31750" cap="flat" cmpd="sng" algn="ctr">
            <a:solidFill>
              <a:srgbClr val="4D7FA8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13AF5B1-0E12-53CB-5F55-085FD7FB64C8}"/>
              </a:ext>
            </a:extLst>
          </p:cNvPr>
          <p:cNvCxnSpPr/>
          <p:nvPr/>
        </p:nvCxnSpPr>
        <p:spPr>
          <a:xfrm>
            <a:off x="5918200" y="3619500"/>
            <a:ext cx="0" cy="279400"/>
          </a:xfrm>
          <a:prstGeom prst="straightConnector1">
            <a:avLst/>
          </a:prstGeom>
          <a:ln w="31750" cap="flat" cmpd="sng" algn="ctr">
            <a:solidFill>
              <a:srgbClr val="28777B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04B2523-C82D-5DBB-42CF-E74719183C61}"/>
              </a:ext>
            </a:extLst>
          </p:cNvPr>
          <p:cNvCxnSpPr/>
          <p:nvPr/>
        </p:nvCxnSpPr>
        <p:spPr>
          <a:xfrm>
            <a:off x="8331200" y="2768600"/>
            <a:ext cx="558800" cy="0"/>
          </a:xfrm>
          <a:prstGeom prst="straightConnector1">
            <a:avLst/>
          </a:prstGeom>
          <a:ln w="31750" cap="flat" cmpd="sng" algn="ctr">
            <a:solidFill>
              <a:srgbClr val="66558D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CD61685-900C-4D61-16DA-1CDDF800298A}"/>
              </a:ext>
            </a:extLst>
          </p:cNvPr>
          <p:cNvCxnSpPr/>
          <p:nvPr/>
        </p:nvCxnSpPr>
        <p:spPr>
          <a:xfrm flipH="1">
            <a:off x="8331200" y="4711700"/>
            <a:ext cx="558800" cy="0"/>
          </a:xfrm>
          <a:prstGeom prst="straightConnector1">
            <a:avLst/>
          </a:prstGeom>
          <a:ln w="21590" cap="flat" cmpd="sng" algn="ctr">
            <a:solidFill>
              <a:srgbClr val="66558D"/>
            </a:solidFill>
            <a:prstDash val="dash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EE044CA-C8F0-7FAA-881F-1FF9CBF15BB5}"/>
              </a:ext>
            </a:extLst>
          </p:cNvPr>
          <p:cNvSpPr txBox="1"/>
          <p:nvPr/>
        </p:nvSpPr>
        <p:spPr>
          <a:xfrm>
            <a:off x="8356600" y="4826000"/>
            <a:ext cx="343043" cy="1384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ctr"/>
            <a:r>
              <a:rPr lang="en-GB" sz="900">
                <a:solidFill>
                  <a:srgbClr val="65727E"/>
                </a:solidFill>
                <a:latin typeface="Aptos" panose="020B0004020202020204" pitchFamily="34" charset="0"/>
              </a:rPr>
              <a:t>results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D470F04-A9E1-7771-C20E-CE3D2849DA87}"/>
              </a:ext>
            </a:extLst>
          </p:cNvPr>
          <p:cNvSpPr/>
          <p:nvPr/>
        </p:nvSpPr>
        <p:spPr>
          <a:xfrm>
            <a:off x="3098800" y="5867400"/>
            <a:ext cx="6477000" cy="342900"/>
          </a:xfrm>
          <a:prstGeom prst="roundRect">
            <a:avLst/>
          </a:prstGeom>
          <a:solidFill>
            <a:srgbClr val="23384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B40D437-A96B-6B4E-0A45-65DEC89B131E}"/>
              </a:ext>
            </a:extLst>
          </p:cNvPr>
          <p:cNvSpPr txBox="1"/>
          <p:nvPr/>
        </p:nvSpPr>
        <p:spPr>
          <a:xfrm>
            <a:off x="3098800" y="5917414"/>
            <a:ext cx="6477000" cy="305212"/>
          </a:xfrm>
          <a:prstGeom prst="rect">
            <a:avLst/>
          </a:prstGeom>
          <a:noFill/>
        </p:spPr>
        <p:txBody>
          <a:bodyPr vert="horz" wrap="square" lIns="63500" tIns="63500" rIns="63500" bIns="63500" rtlCol="0" anchor="ctr">
            <a:spAutoFit/>
          </a:bodyPr>
          <a:lstStyle/>
          <a:p>
            <a:pPr algn="ctr"/>
            <a:r>
              <a:rPr lang="en-US" sz="1150" b="1">
                <a:solidFill>
                  <a:srgbClr val="FFFFFF"/>
                </a:solidFill>
                <a:latin typeface="Aptos" panose="020B0004020202020204" pitchFamily="34" charset="0"/>
              </a:rPr>
              <a:t>One model specification • one job contract • one traceable workflow</a:t>
            </a:r>
            <a:endParaRPr lang="en-GB" sz="115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F816F54-E20A-EFBA-CCF3-99A4372D6318}"/>
              </a:ext>
            </a:extLst>
          </p:cNvPr>
          <p:cNvSpPr txBox="1"/>
          <p:nvPr/>
        </p:nvSpPr>
        <p:spPr>
          <a:xfrm>
            <a:off x="11303000" y="6527800"/>
            <a:ext cx="60914" cy="1384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65727E"/>
                </a:solidFill>
                <a:latin typeface="Aptos" panose="020B00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32892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020928-4DDA-7287-E3D0-E9391B05BAB7}"/>
              </a:ext>
            </a:extLst>
          </p:cNvPr>
          <p:cNvSpPr txBox="1"/>
          <p:nvPr/>
        </p:nvSpPr>
        <p:spPr>
          <a:xfrm>
            <a:off x="546100" y="825500"/>
            <a:ext cx="110490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2700" b="1">
                <a:solidFill>
                  <a:srgbClr val="23384D"/>
                </a:solidFill>
                <a:latin typeface="Aptos Display" panose="020B0004020202020204" pitchFamily="34" charset="0"/>
              </a:rPr>
              <a:t>Broad capability, promising performance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18D183-B0E4-C7A6-BD47-479EA700D826}"/>
              </a:ext>
            </a:extLst>
          </p:cNvPr>
          <p:cNvSpPr txBox="1"/>
          <p:nvPr/>
        </p:nvSpPr>
        <p:spPr>
          <a:xfrm>
            <a:off x="558800" y="1333500"/>
            <a:ext cx="110490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00">
                <a:solidFill>
                  <a:srgbClr val="65727E"/>
                </a:solidFill>
                <a:latin typeface="Aptos" panose="020B0004020202020204" pitchFamily="34" charset="0"/>
              </a:rPr>
              <a:t>The current build covers the workflow from model specification to diagnostics.</a:t>
            </a:r>
            <a:endParaRPr lang="en-GB" sz="1300">
              <a:solidFill>
                <a:srgbClr val="65727E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2CCB3B7-B889-D1FE-A4B8-F6501C0D7834}"/>
              </a:ext>
            </a:extLst>
          </p:cNvPr>
          <p:cNvSpPr/>
          <p:nvPr/>
        </p:nvSpPr>
        <p:spPr>
          <a:xfrm>
            <a:off x="558800" y="1739900"/>
            <a:ext cx="5080000" cy="4394200"/>
          </a:xfrm>
          <a:prstGeom prst="roundRect">
            <a:avLst/>
          </a:prstGeom>
          <a:solidFill>
            <a:srgbClr val="FFFFFF"/>
          </a:solidFill>
          <a:ln w="10795" cap="flat" cmpd="sng" algn="ctr">
            <a:solidFill>
              <a:srgbClr val="CCD5DC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25400" dir="5400000" rotWithShape="0">
              <a:scrgbClr r="0" g="0" b="0">
                <a:alpha val="1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165CBD-72B1-8165-B4DD-C69E1406EA5A}"/>
              </a:ext>
            </a:extLst>
          </p:cNvPr>
          <p:cNvSpPr txBox="1"/>
          <p:nvPr/>
        </p:nvSpPr>
        <p:spPr>
          <a:xfrm>
            <a:off x="812800" y="1981200"/>
            <a:ext cx="2867836" cy="26161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r>
              <a:rPr lang="en-GB" sz="1700" b="1">
                <a:solidFill>
                  <a:srgbClr val="23384D"/>
                </a:solidFill>
                <a:latin typeface="Aptos Display" panose="020B0004020202020204" pitchFamily="34" charset="0"/>
              </a:rPr>
              <a:t>Current LibeRation capabilities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E84296A-3026-8A3C-7DB2-2904896D9114}"/>
              </a:ext>
            </a:extLst>
          </p:cNvPr>
          <p:cNvSpPr/>
          <p:nvPr/>
        </p:nvSpPr>
        <p:spPr>
          <a:xfrm>
            <a:off x="838200" y="2603500"/>
            <a:ext cx="127000" cy="127000"/>
          </a:xfrm>
          <a:prstGeom prst="ellipse">
            <a:avLst/>
          </a:prstGeom>
          <a:solidFill>
            <a:srgbClr val="4D7F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2E5DB7-6098-2E43-5064-DE0A1F360597}"/>
              </a:ext>
            </a:extLst>
          </p:cNvPr>
          <p:cNvSpPr txBox="1"/>
          <p:nvPr/>
        </p:nvSpPr>
        <p:spPr>
          <a:xfrm>
            <a:off x="1092200" y="2527300"/>
            <a:ext cx="603050" cy="184666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r>
              <a:rPr lang="en-GB" sz="1200" b="1">
                <a:solidFill>
                  <a:srgbClr val="23384D"/>
                </a:solidFill>
                <a:latin typeface="Aptos" panose="020B0004020202020204" pitchFamily="34" charset="0"/>
              </a:rPr>
              <a:t>AUTHOR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2651CF-BEAF-CF1D-6381-18032068DD75}"/>
              </a:ext>
            </a:extLst>
          </p:cNvPr>
          <p:cNvSpPr txBox="1"/>
          <p:nvPr/>
        </p:nvSpPr>
        <p:spPr>
          <a:xfrm>
            <a:off x="2387600" y="2527300"/>
            <a:ext cx="28956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>
                <a:solidFill>
                  <a:srgbClr val="1F2B36"/>
                </a:solidFill>
                <a:latin typeface="Aptos" panose="020B0004020202020204" pitchFamily="34" charset="0"/>
              </a:rPr>
              <a:t>R, C++, or NONMEM control streams</a:t>
            </a:r>
            <a:endParaRPr lang="en-GB" sz="1200">
              <a:solidFill>
                <a:srgbClr val="1F2B36"/>
              </a:solidFill>
              <a:latin typeface="Aptos" panose="020B00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AD761F6-AF73-3C85-94DE-3585E13F5B0D}"/>
              </a:ext>
            </a:extLst>
          </p:cNvPr>
          <p:cNvSpPr/>
          <p:nvPr/>
        </p:nvSpPr>
        <p:spPr>
          <a:xfrm>
            <a:off x="838200" y="3187700"/>
            <a:ext cx="127000" cy="127000"/>
          </a:xfrm>
          <a:prstGeom prst="ellipse">
            <a:avLst/>
          </a:prstGeom>
          <a:solidFill>
            <a:srgbClr val="28777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478B76-2020-C928-B8E8-D04F263F8B8E}"/>
              </a:ext>
            </a:extLst>
          </p:cNvPr>
          <p:cNvSpPr txBox="1"/>
          <p:nvPr/>
        </p:nvSpPr>
        <p:spPr>
          <a:xfrm>
            <a:off x="1092200" y="3111500"/>
            <a:ext cx="458139" cy="184666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r>
              <a:rPr lang="en-GB" sz="1200" b="1">
                <a:solidFill>
                  <a:srgbClr val="23384D"/>
                </a:solidFill>
                <a:latin typeface="Aptos" panose="020B0004020202020204" pitchFamily="34" charset="0"/>
              </a:rPr>
              <a:t>SOLVE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5D9107-EFA7-99FA-56F4-488B3A96D966}"/>
              </a:ext>
            </a:extLst>
          </p:cNvPr>
          <p:cNvSpPr txBox="1"/>
          <p:nvPr/>
        </p:nvSpPr>
        <p:spPr>
          <a:xfrm>
            <a:off x="2387600" y="31115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>
                <a:solidFill>
                  <a:srgbClr val="1F2B36"/>
                </a:solidFill>
                <a:latin typeface="Aptos" panose="020B0004020202020204" pitchFamily="34" charset="0"/>
              </a:rPr>
              <a:t>ADVAN1–4/11/12, ODEs, matrix exponential, steady state</a:t>
            </a:r>
            <a:endParaRPr lang="en-GB" sz="1200">
              <a:solidFill>
                <a:srgbClr val="1F2B36"/>
              </a:solidFill>
              <a:latin typeface="Aptos" panose="020B0004020202020204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318754E-5AB1-3389-B18C-DFD7A6C01842}"/>
              </a:ext>
            </a:extLst>
          </p:cNvPr>
          <p:cNvSpPr/>
          <p:nvPr/>
        </p:nvSpPr>
        <p:spPr>
          <a:xfrm>
            <a:off x="838200" y="3860800"/>
            <a:ext cx="127000" cy="127000"/>
          </a:xfrm>
          <a:prstGeom prst="ellipse">
            <a:avLst/>
          </a:prstGeom>
          <a:solidFill>
            <a:srgbClr val="66558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029FDD-C076-957B-2360-89C02519800F}"/>
              </a:ext>
            </a:extLst>
          </p:cNvPr>
          <p:cNvSpPr txBox="1"/>
          <p:nvPr/>
        </p:nvSpPr>
        <p:spPr>
          <a:xfrm>
            <a:off x="1092200" y="3784600"/>
            <a:ext cx="682495" cy="184666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r>
              <a:rPr lang="en-GB" sz="1200" b="1">
                <a:solidFill>
                  <a:srgbClr val="23384D"/>
                </a:solidFill>
                <a:latin typeface="Aptos" panose="020B0004020202020204" pitchFamily="34" charset="0"/>
              </a:rPr>
              <a:t>ESTIMATE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4ABC37-BDB1-74DC-4AC0-7525DAE09A17}"/>
              </a:ext>
            </a:extLst>
          </p:cNvPr>
          <p:cNvSpPr txBox="1"/>
          <p:nvPr/>
        </p:nvSpPr>
        <p:spPr>
          <a:xfrm>
            <a:off x="2387600" y="37846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>
                <a:solidFill>
                  <a:srgbClr val="1F2B36"/>
                </a:solidFill>
                <a:latin typeface="Aptos" panose="020B0004020202020204" pitchFamily="34" charset="0"/>
              </a:rPr>
              <a:t>FO, FOCE/I, Laplace, ITS, IMP, SAEM and Bayes</a:t>
            </a:r>
            <a:endParaRPr lang="en-GB" sz="1200">
              <a:solidFill>
                <a:srgbClr val="1F2B36"/>
              </a:solidFill>
              <a:latin typeface="Aptos" panose="020B0004020202020204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37DD544-EBCF-07FC-9257-D755A397061A}"/>
              </a:ext>
            </a:extLst>
          </p:cNvPr>
          <p:cNvSpPr/>
          <p:nvPr/>
        </p:nvSpPr>
        <p:spPr>
          <a:xfrm>
            <a:off x="838200" y="4533900"/>
            <a:ext cx="127000" cy="127000"/>
          </a:xfrm>
          <a:prstGeom prst="ellipse">
            <a:avLst/>
          </a:prstGeom>
          <a:solidFill>
            <a:srgbClr val="A3723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55610E-342D-A079-1D4E-FAB4BD7CF664}"/>
              </a:ext>
            </a:extLst>
          </p:cNvPr>
          <p:cNvSpPr txBox="1"/>
          <p:nvPr/>
        </p:nvSpPr>
        <p:spPr>
          <a:xfrm>
            <a:off x="1092200" y="4457700"/>
            <a:ext cx="761555" cy="184666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r>
              <a:rPr lang="en-GB" sz="1200" b="1">
                <a:solidFill>
                  <a:srgbClr val="23384D"/>
                </a:solidFill>
                <a:latin typeface="Aptos" panose="020B0004020202020204" pitchFamily="34" charset="0"/>
              </a:rPr>
              <a:t>DIAGNOSE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8C9864-4FA2-7A3A-3113-9EAA2B48E643}"/>
              </a:ext>
            </a:extLst>
          </p:cNvPr>
          <p:cNvSpPr txBox="1"/>
          <p:nvPr/>
        </p:nvSpPr>
        <p:spPr>
          <a:xfrm>
            <a:off x="2387600" y="44577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200">
                <a:solidFill>
                  <a:srgbClr val="1F2B36"/>
                </a:solidFill>
                <a:latin typeface="Aptos" panose="020B0004020202020204" pitchFamily="34" charset="0"/>
              </a:rPr>
              <a:t>GOF, CWRES, VPC, NPDE, NPC and categorical/TTE VPCs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E0ACE1E-F08D-B0F8-258C-9B83E42D4B9C}"/>
              </a:ext>
            </a:extLst>
          </p:cNvPr>
          <p:cNvSpPr/>
          <p:nvPr/>
        </p:nvSpPr>
        <p:spPr>
          <a:xfrm>
            <a:off x="838200" y="5207000"/>
            <a:ext cx="127000" cy="127000"/>
          </a:xfrm>
          <a:prstGeom prst="ellipse">
            <a:avLst/>
          </a:prstGeom>
          <a:solidFill>
            <a:srgbClr val="3F7D6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F20D04-6E3B-7333-A01C-1CFCB2571CD8}"/>
              </a:ext>
            </a:extLst>
          </p:cNvPr>
          <p:cNvSpPr txBox="1"/>
          <p:nvPr/>
        </p:nvSpPr>
        <p:spPr>
          <a:xfrm>
            <a:off x="1092200" y="5130800"/>
            <a:ext cx="721672" cy="184666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r>
              <a:rPr lang="en-GB" sz="1200" b="1">
                <a:solidFill>
                  <a:srgbClr val="23384D"/>
                </a:solidFill>
                <a:latin typeface="Aptos" panose="020B0004020202020204" pitchFamily="34" charset="0"/>
              </a:rPr>
              <a:t>QUANTIFY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C5FA34-11DA-4390-47A6-CFA54BA0D4F8}"/>
              </a:ext>
            </a:extLst>
          </p:cNvPr>
          <p:cNvSpPr txBox="1"/>
          <p:nvPr/>
        </p:nvSpPr>
        <p:spPr>
          <a:xfrm>
            <a:off x="2387600" y="51308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>
                <a:solidFill>
                  <a:srgbClr val="1F2B36"/>
                </a:solidFill>
                <a:latin typeface="Aptos" panose="020B0004020202020204" pitchFamily="34" charset="0"/>
              </a:rPr>
              <a:t>Covariance, bootstrap, profile likelihood and priors</a:t>
            </a:r>
            <a:endParaRPr lang="en-GB" sz="1200">
              <a:solidFill>
                <a:srgbClr val="1F2B36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9BF1E5-34FF-9A96-B134-47F3B2CD3065}"/>
              </a:ext>
            </a:extLst>
          </p:cNvPr>
          <p:cNvSpPr txBox="1"/>
          <p:nvPr/>
        </p:nvSpPr>
        <p:spPr>
          <a:xfrm>
            <a:off x="838200" y="5727700"/>
            <a:ext cx="44450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050">
                <a:solidFill>
                  <a:srgbClr val="65727E"/>
                </a:solidFill>
                <a:latin typeface="Aptos" panose="020B0004020202020204" pitchFamily="34" charset="0"/>
              </a:rPr>
              <a:t>Plus parallel simulation/estimation, SCM, versioned runs and reporting.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ED7FBCC-C114-2F2B-3869-121CB457E0EF}"/>
              </a:ext>
            </a:extLst>
          </p:cNvPr>
          <p:cNvSpPr/>
          <p:nvPr/>
        </p:nvSpPr>
        <p:spPr>
          <a:xfrm>
            <a:off x="5918200" y="1739900"/>
            <a:ext cx="5715000" cy="4394200"/>
          </a:xfrm>
          <a:prstGeom prst="roundRect">
            <a:avLst/>
          </a:prstGeom>
          <a:solidFill>
            <a:srgbClr val="FFFFFF"/>
          </a:solidFill>
          <a:ln w="10795" cap="flat" cmpd="sng" algn="ctr">
            <a:solidFill>
              <a:srgbClr val="CCD5DC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25400" dir="5400000" rotWithShape="0">
              <a:scrgbClr r="0" g="0" b="0">
                <a:alpha val="1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FE6C22-DEB6-1748-BD0A-FF4363AB12AE}"/>
              </a:ext>
            </a:extLst>
          </p:cNvPr>
          <p:cNvSpPr txBox="1"/>
          <p:nvPr/>
        </p:nvSpPr>
        <p:spPr>
          <a:xfrm>
            <a:off x="6172200" y="1981200"/>
            <a:ext cx="3111749" cy="26161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r>
              <a:rPr lang="en-GB" sz="1700" b="1">
                <a:solidFill>
                  <a:srgbClr val="23384D"/>
                </a:solidFill>
                <a:latin typeface="Aptos Display" panose="020B0004020202020204" pitchFamily="34" charset="0"/>
              </a:rPr>
              <a:t>End-to-end speedup vs NONMEM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91FBB1F-F433-0878-ED62-70A0B3C5FB6B}"/>
              </a:ext>
            </a:extLst>
          </p:cNvPr>
          <p:cNvSpPr/>
          <p:nvPr/>
        </p:nvSpPr>
        <p:spPr>
          <a:xfrm>
            <a:off x="10210800" y="1968500"/>
            <a:ext cx="1155700" cy="292100"/>
          </a:xfrm>
          <a:prstGeom prst="roundRect">
            <a:avLst/>
          </a:prstGeom>
          <a:solidFill>
            <a:srgbClr val="E6F0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9BC0B16-57E5-4788-AD9A-374B914151E4}"/>
              </a:ext>
            </a:extLst>
          </p:cNvPr>
          <p:cNvSpPr txBox="1"/>
          <p:nvPr/>
        </p:nvSpPr>
        <p:spPr>
          <a:xfrm>
            <a:off x="10210800" y="2033903"/>
            <a:ext cx="1155700" cy="274434"/>
          </a:xfrm>
          <a:prstGeom prst="rect">
            <a:avLst/>
          </a:prstGeom>
          <a:noFill/>
        </p:spPr>
        <p:txBody>
          <a:bodyPr vert="horz" wrap="square" lIns="63500" tIns="63500" rIns="63500" bIns="63500" rtlCol="0" anchor="ctr">
            <a:spAutoFit/>
          </a:bodyPr>
          <a:lstStyle/>
          <a:p>
            <a:pPr algn="ctr"/>
            <a:r>
              <a:rPr lang="en-GB" sz="950" b="1">
                <a:solidFill>
                  <a:srgbClr val="3F7D68"/>
                </a:solidFill>
                <a:latin typeface="Aptos" panose="020B0004020202020204" pitchFamily="34" charset="0"/>
              </a:rPr>
              <a:t>higher is faster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F5E29C-70CB-CFDA-5745-95C7F751B2F7}"/>
              </a:ext>
            </a:extLst>
          </p:cNvPr>
          <p:cNvSpPr txBox="1"/>
          <p:nvPr/>
        </p:nvSpPr>
        <p:spPr>
          <a:xfrm>
            <a:off x="6172200" y="2324100"/>
            <a:ext cx="1808187" cy="15388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r>
              <a:rPr lang="en-GB" sz="1000">
                <a:solidFill>
                  <a:srgbClr val="65727E"/>
                </a:solidFill>
                <a:latin typeface="Aptos" panose="020B0004020202020204" pitchFamily="34" charset="0"/>
              </a:rPr>
              <a:t>NONMEM time ÷ LibeRation time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6C4FB7-C615-9750-8950-9049C2645103}"/>
              </a:ext>
            </a:extLst>
          </p:cNvPr>
          <p:cNvSpPr txBox="1"/>
          <p:nvPr/>
        </p:nvSpPr>
        <p:spPr>
          <a:xfrm>
            <a:off x="6184900" y="2762808"/>
            <a:ext cx="169918" cy="161583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r"/>
            <a:r>
              <a:rPr lang="en-GB" sz="1050" b="1">
                <a:solidFill>
                  <a:srgbClr val="1F2B36"/>
                </a:solidFill>
                <a:latin typeface="Aptos" panose="020B0004020202020204" pitchFamily="34" charset="0"/>
              </a:rPr>
              <a:t>FO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908DFEC-5979-F07B-EC9A-6AACA8FE4546}"/>
              </a:ext>
            </a:extLst>
          </p:cNvPr>
          <p:cNvSpPr/>
          <p:nvPr/>
        </p:nvSpPr>
        <p:spPr>
          <a:xfrm>
            <a:off x="7112000" y="2743200"/>
            <a:ext cx="3556000" cy="165100"/>
          </a:xfrm>
          <a:prstGeom prst="roundRect">
            <a:avLst/>
          </a:prstGeom>
          <a:solidFill>
            <a:srgbClr val="E6EB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B44F8DB-AA1F-A798-F242-072A79079A97}"/>
              </a:ext>
            </a:extLst>
          </p:cNvPr>
          <p:cNvSpPr/>
          <p:nvPr/>
        </p:nvSpPr>
        <p:spPr>
          <a:xfrm>
            <a:off x="7112000" y="2743200"/>
            <a:ext cx="1320800" cy="165100"/>
          </a:xfrm>
          <a:prstGeom prst="roundRect">
            <a:avLst/>
          </a:prstGeom>
          <a:solidFill>
            <a:srgbClr val="4D7F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BCEC36B-758D-FC3C-52ED-9E714E38129D}"/>
              </a:ext>
            </a:extLst>
          </p:cNvPr>
          <p:cNvSpPr txBox="1"/>
          <p:nvPr/>
        </p:nvSpPr>
        <p:spPr>
          <a:xfrm>
            <a:off x="8509000" y="2750108"/>
            <a:ext cx="254878" cy="161583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GB" sz="1050" b="1">
                <a:solidFill>
                  <a:srgbClr val="4D7FA8"/>
                </a:solidFill>
                <a:latin typeface="Aptos" panose="020B0004020202020204" pitchFamily="34" charset="0"/>
              </a:rPr>
              <a:t>4.8×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E9CD74-D38C-9B36-C2BF-8E5EC3FF2AB0}"/>
              </a:ext>
            </a:extLst>
          </p:cNvPr>
          <p:cNvSpPr txBox="1"/>
          <p:nvPr/>
        </p:nvSpPr>
        <p:spPr>
          <a:xfrm>
            <a:off x="6184900" y="3112058"/>
            <a:ext cx="343043" cy="161583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r"/>
            <a:r>
              <a:rPr lang="en-GB" sz="1050" b="1">
                <a:solidFill>
                  <a:srgbClr val="1F2B36"/>
                </a:solidFill>
                <a:latin typeface="Aptos" panose="020B0004020202020204" pitchFamily="34" charset="0"/>
              </a:rPr>
              <a:t>FOCE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A404F26-9268-3A80-6F2F-E434C251558F}"/>
              </a:ext>
            </a:extLst>
          </p:cNvPr>
          <p:cNvSpPr/>
          <p:nvPr/>
        </p:nvSpPr>
        <p:spPr>
          <a:xfrm>
            <a:off x="7112000" y="3092450"/>
            <a:ext cx="3556000" cy="165100"/>
          </a:xfrm>
          <a:prstGeom prst="roundRect">
            <a:avLst/>
          </a:prstGeom>
          <a:solidFill>
            <a:srgbClr val="E6EB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DCA55F0-8561-BFF5-ED23-D3DA1EEED825}"/>
              </a:ext>
            </a:extLst>
          </p:cNvPr>
          <p:cNvSpPr/>
          <p:nvPr/>
        </p:nvSpPr>
        <p:spPr>
          <a:xfrm>
            <a:off x="7112000" y="3092450"/>
            <a:ext cx="762000" cy="165100"/>
          </a:xfrm>
          <a:prstGeom prst="roundRect">
            <a:avLst/>
          </a:prstGeom>
          <a:solidFill>
            <a:srgbClr val="4D7F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1DE0A97-C0B4-4DAA-7C81-A58097D79BEF}"/>
              </a:ext>
            </a:extLst>
          </p:cNvPr>
          <p:cNvSpPr txBox="1"/>
          <p:nvPr/>
        </p:nvSpPr>
        <p:spPr>
          <a:xfrm>
            <a:off x="7950200" y="3099358"/>
            <a:ext cx="254878" cy="161583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GB" sz="1050" b="1">
                <a:solidFill>
                  <a:srgbClr val="4D7FA8"/>
                </a:solidFill>
                <a:latin typeface="Aptos" panose="020B0004020202020204" pitchFamily="34" charset="0"/>
              </a:rPr>
              <a:t>2.8×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AD90DF-6080-F0EB-366B-187CB250C4A0}"/>
              </a:ext>
            </a:extLst>
          </p:cNvPr>
          <p:cNvSpPr txBox="1"/>
          <p:nvPr/>
        </p:nvSpPr>
        <p:spPr>
          <a:xfrm>
            <a:off x="6184900" y="3461308"/>
            <a:ext cx="383118" cy="161583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r"/>
            <a:r>
              <a:rPr lang="en-GB" sz="1050" b="1">
                <a:solidFill>
                  <a:srgbClr val="1F2B36"/>
                </a:solidFill>
                <a:latin typeface="Aptos" panose="020B0004020202020204" pitchFamily="34" charset="0"/>
              </a:rPr>
              <a:t>FOCEI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C246E73-BB57-3B68-71EA-109320C92B92}"/>
              </a:ext>
            </a:extLst>
          </p:cNvPr>
          <p:cNvSpPr/>
          <p:nvPr/>
        </p:nvSpPr>
        <p:spPr>
          <a:xfrm>
            <a:off x="7112000" y="3441700"/>
            <a:ext cx="3556000" cy="165100"/>
          </a:xfrm>
          <a:prstGeom prst="roundRect">
            <a:avLst/>
          </a:prstGeom>
          <a:solidFill>
            <a:srgbClr val="E6EB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3EEFF1F-04A9-C860-963D-D7E7D10816D7}"/>
              </a:ext>
            </a:extLst>
          </p:cNvPr>
          <p:cNvSpPr/>
          <p:nvPr/>
        </p:nvSpPr>
        <p:spPr>
          <a:xfrm>
            <a:off x="7112000" y="3441700"/>
            <a:ext cx="749300" cy="165100"/>
          </a:xfrm>
          <a:prstGeom prst="roundRect">
            <a:avLst/>
          </a:prstGeom>
          <a:solidFill>
            <a:srgbClr val="4D7F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6A33414-582A-81CF-F558-0028751BD940}"/>
              </a:ext>
            </a:extLst>
          </p:cNvPr>
          <p:cNvSpPr txBox="1"/>
          <p:nvPr/>
        </p:nvSpPr>
        <p:spPr>
          <a:xfrm>
            <a:off x="7937500" y="3448608"/>
            <a:ext cx="254878" cy="161583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GB" sz="1050" b="1">
                <a:solidFill>
                  <a:srgbClr val="4D7FA8"/>
                </a:solidFill>
                <a:latin typeface="Aptos" panose="020B0004020202020204" pitchFamily="34" charset="0"/>
              </a:rPr>
              <a:t>2.7×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B67C3B1-3ACA-81C8-3E7B-B274A8BE0FDE}"/>
              </a:ext>
            </a:extLst>
          </p:cNvPr>
          <p:cNvSpPr txBox="1"/>
          <p:nvPr/>
        </p:nvSpPr>
        <p:spPr>
          <a:xfrm>
            <a:off x="6184900" y="3810558"/>
            <a:ext cx="484107" cy="161583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r"/>
            <a:r>
              <a:rPr lang="en-GB" sz="1050" b="1">
                <a:solidFill>
                  <a:srgbClr val="1F2B36"/>
                </a:solidFill>
                <a:latin typeface="Aptos" panose="020B0004020202020204" pitchFamily="34" charset="0"/>
              </a:rPr>
              <a:t>Laplace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62F4A54-48FB-943A-7BA8-B299D85723BC}"/>
              </a:ext>
            </a:extLst>
          </p:cNvPr>
          <p:cNvSpPr/>
          <p:nvPr/>
        </p:nvSpPr>
        <p:spPr>
          <a:xfrm>
            <a:off x="7112000" y="3790950"/>
            <a:ext cx="3556000" cy="165100"/>
          </a:xfrm>
          <a:prstGeom prst="roundRect">
            <a:avLst/>
          </a:prstGeom>
          <a:solidFill>
            <a:srgbClr val="E6EB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2614256C-3B36-A550-7E2A-08F0C5D37B82}"/>
              </a:ext>
            </a:extLst>
          </p:cNvPr>
          <p:cNvSpPr/>
          <p:nvPr/>
        </p:nvSpPr>
        <p:spPr>
          <a:xfrm>
            <a:off x="7112000" y="3790950"/>
            <a:ext cx="914400" cy="165100"/>
          </a:xfrm>
          <a:prstGeom prst="roundRect">
            <a:avLst/>
          </a:prstGeom>
          <a:solidFill>
            <a:srgbClr val="28777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434AFD-27EE-FAC4-204F-28F5F3D1AF6E}"/>
              </a:ext>
            </a:extLst>
          </p:cNvPr>
          <p:cNvSpPr txBox="1"/>
          <p:nvPr/>
        </p:nvSpPr>
        <p:spPr>
          <a:xfrm>
            <a:off x="8102600" y="3797858"/>
            <a:ext cx="254878" cy="161583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GB" sz="1050" b="1">
                <a:solidFill>
                  <a:srgbClr val="28777B"/>
                </a:solidFill>
                <a:latin typeface="Aptos" panose="020B0004020202020204" pitchFamily="34" charset="0"/>
              </a:rPr>
              <a:t>3.3×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A9C8562-B743-17E2-30D1-6460779758A7}"/>
              </a:ext>
            </a:extLst>
          </p:cNvPr>
          <p:cNvSpPr txBox="1"/>
          <p:nvPr/>
        </p:nvSpPr>
        <p:spPr>
          <a:xfrm>
            <a:off x="6184900" y="4159808"/>
            <a:ext cx="187552" cy="161583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r"/>
            <a:r>
              <a:rPr lang="en-GB" sz="1050" b="1">
                <a:solidFill>
                  <a:srgbClr val="1F2B36"/>
                </a:solidFill>
                <a:latin typeface="Aptos" panose="020B0004020202020204" pitchFamily="34" charset="0"/>
              </a:rPr>
              <a:t>ITS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CF54D2C-A83E-B055-FAED-D9D295645B94}"/>
              </a:ext>
            </a:extLst>
          </p:cNvPr>
          <p:cNvSpPr/>
          <p:nvPr/>
        </p:nvSpPr>
        <p:spPr>
          <a:xfrm>
            <a:off x="7112000" y="4140200"/>
            <a:ext cx="3556000" cy="165100"/>
          </a:xfrm>
          <a:prstGeom prst="roundRect">
            <a:avLst/>
          </a:prstGeom>
          <a:solidFill>
            <a:srgbClr val="E6EB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214EECCE-EAD2-A682-2342-F3ED7E17D6C1}"/>
              </a:ext>
            </a:extLst>
          </p:cNvPr>
          <p:cNvSpPr/>
          <p:nvPr/>
        </p:nvSpPr>
        <p:spPr>
          <a:xfrm>
            <a:off x="7112000" y="4140200"/>
            <a:ext cx="3467100" cy="165100"/>
          </a:xfrm>
          <a:prstGeom prst="roundRect">
            <a:avLst/>
          </a:prstGeom>
          <a:solidFill>
            <a:srgbClr val="66558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779CC37-FA5F-19F5-060C-AC7C584F7B19}"/>
              </a:ext>
            </a:extLst>
          </p:cNvPr>
          <p:cNvSpPr txBox="1"/>
          <p:nvPr/>
        </p:nvSpPr>
        <p:spPr>
          <a:xfrm>
            <a:off x="10655300" y="4147108"/>
            <a:ext cx="327013" cy="161583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GB" sz="1050" b="1">
                <a:solidFill>
                  <a:srgbClr val="66558D"/>
                </a:solidFill>
                <a:latin typeface="Aptos" panose="020B0004020202020204" pitchFamily="34" charset="0"/>
              </a:rPr>
              <a:t>12.7×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BB2B8CF-9107-86BB-A019-B38AFF3348D8}"/>
              </a:ext>
            </a:extLst>
          </p:cNvPr>
          <p:cNvSpPr txBox="1"/>
          <p:nvPr/>
        </p:nvSpPr>
        <p:spPr>
          <a:xfrm>
            <a:off x="6184900" y="4509058"/>
            <a:ext cx="232436" cy="161583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r"/>
            <a:r>
              <a:rPr lang="en-GB" sz="1050" b="1">
                <a:solidFill>
                  <a:srgbClr val="1F2B36"/>
                </a:solidFill>
                <a:latin typeface="Aptos" panose="020B0004020202020204" pitchFamily="34" charset="0"/>
              </a:rPr>
              <a:t>IMP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06EA051E-7573-ABBD-907C-74CFBB9BE875}"/>
              </a:ext>
            </a:extLst>
          </p:cNvPr>
          <p:cNvSpPr/>
          <p:nvPr/>
        </p:nvSpPr>
        <p:spPr>
          <a:xfrm>
            <a:off x="7112000" y="4489450"/>
            <a:ext cx="3556000" cy="165100"/>
          </a:xfrm>
          <a:prstGeom prst="roundRect">
            <a:avLst/>
          </a:prstGeom>
          <a:solidFill>
            <a:srgbClr val="E6EB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FFF772DD-1901-624B-6044-911C43836729}"/>
              </a:ext>
            </a:extLst>
          </p:cNvPr>
          <p:cNvSpPr/>
          <p:nvPr/>
        </p:nvSpPr>
        <p:spPr>
          <a:xfrm>
            <a:off x="7112000" y="4489450"/>
            <a:ext cx="1765300" cy="165100"/>
          </a:xfrm>
          <a:prstGeom prst="roundRect">
            <a:avLst/>
          </a:prstGeom>
          <a:solidFill>
            <a:srgbClr val="66558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B4F5DCA-57CE-DD09-6B4F-5A3FFB637F8D}"/>
              </a:ext>
            </a:extLst>
          </p:cNvPr>
          <p:cNvSpPr txBox="1"/>
          <p:nvPr/>
        </p:nvSpPr>
        <p:spPr>
          <a:xfrm>
            <a:off x="8953500" y="4496358"/>
            <a:ext cx="254878" cy="161583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GB" sz="1050" b="1">
                <a:solidFill>
                  <a:srgbClr val="66558D"/>
                </a:solidFill>
                <a:latin typeface="Aptos" panose="020B0004020202020204" pitchFamily="34" charset="0"/>
              </a:rPr>
              <a:t>6.4×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CDD8E37-A42C-0716-D205-2500D79A449A}"/>
              </a:ext>
            </a:extLst>
          </p:cNvPr>
          <p:cNvSpPr txBox="1"/>
          <p:nvPr/>
        </p:nvSpPr>
        <p:spPr>
          <a:xfrm>
            <a:off x="6184900" y="4858308"/>
            <a:ext cx="351058" cy="161583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r"/>
            <a:r>
              <a:rPr lang="en-GB" sz="1050" b="1">
                <a:solidFill>
                  <a:srgbClr val="1F2B36"/>
                </a:solidFill>
                <a:latin typeface="Aptos" panose="020B0004020202020204" pitchFamily="34" charset="0"/>
              </a:rPr>
              <a:t>SAEM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F7514DA7-7644-FC5F-EC45-9200D4A10EDD}"/>
              </a:ext>
            </a:extLst>
          </p:cNvPr>
          <p:cNvSpPr/>
          <p:nvPr/>
        </p:nvSpPr>
        <p:spPr>
          <a:xfrm>
            <a:off x="7112000" y="4838700"/>
            <a:ext cx="3556000" cy="165100"/>
          </a:xfrm>
          <a:prstGeom prst="roundRect">
            <a:avLst/>
          </a:prstGeom>
          <a:solidFill>
            <a:srgbClr val="E6EB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EC0698D9-1335-F3CF-26C5-92B5B60978A7}"/>
              </a:ext>
            </a:extLst>
          </p:cNvPr>
          <p:cNvSpPr/>
          <p:nvPr/>
        </p:nvSpPr>
        <p:spPr>
          <a:xfrm>
            <a:off x="7112000" y="4838700"/>
            <a:ext cx="342900" cy="165100"/>
          </a:xfrm>
          <a:prstGeom prst="roundRect">
            <a:avLst/>
          </a:prstGeom>
          <a:solidFill>
            <a:srgbClr val="A3723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5BE2E0D-9907-BEA9-4544-2D12269BFDDB}"/>
              </a:ext>
            </a:extLst>
          </p:cNvPr>
          <p:cNvSpPr txBox="1"/>
          <p:nvPr/>
        </p:nvSpPr>
        <p:spPr>
          <a:xfrm>
            <a:off x="7531100" y="4845608"/>
            <a:ext cx="254878" cy="161583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GB" sz="1050" b="1">
                <a:solidFill>
                  <a:srgbClr val="A37232"/>
                </a:solidFill>
                <a:latin typeface="Aptos" panose="020B0004020202020204" pitchFamily="34" charset="0"/>
              </a:rPr>
              <a:t>1.3×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9E3103D-9E0B-2A02-2C7B-07AC10B71F25}"/>
              </a:ext>
            </a:extLst>
          </p:cNvPr>
          <p:cNvSpPr txBox="1"/>
          <p:nvPr/>
        </p:nvSpPr>
        <p:spPr>
          <a:xfrm>
            <a:off x="6184900" y="5207558"/>
            <a:ext cx="670055" cy="161583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r"/>
            <a:r>
              <a:rPr lang="en-GB" sz="1050" b="1">
                <a:solidFill>
                  <a:srgbClr val="1F2B36"/>
                </a:solidFill>
                <a:latin typeface="Aptos" panose="020B0004020202020204" pitchFamily="34" charset="0"/>
              </a:rPr>
              <a:t>Simulation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271980D-2324-4559-D047-71CA133EBB64}"/>
              </a:ext>
            </a:extLst>
          </p:cNvPr>
          <p:cNvSpPr/>
          <p:nvPr/>
        </p:nvSpPr>
        <p:spPr>
          <a:xfrm>
            <a:off x="7112000" y="5187950"/>
            <a:ext cx="3556000" cy="165100"/>
          </a:xfrm>
          <a:prstGeom prst="roundRect">
            <a:avLst/>
          </a:prstGeom>
          <a:solidFill>
            <a:srgbClr val="E6EB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A7A4C35F-6565-186A-FA82-A74DBACA7A49}"/>
              </a:ext>
            </a:extLst>
          </p:cNvPr>
          <p:cNvSpPr/>
          <p:nvPr/>
        </p:nvSpPr>
        <p:spPr>
          <a:xfrm>
            <a:off x="7112000" y="5187950"/>
            <a:ext cx="3162300" cy="165100"/>
          </a:xfrm>
          <a:prstGeom prst="roundRect">
            <a:avLst/>
          </a:prstGeom>
          <a:solidFill>
            <a:srgbClr val="3F7D6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6EAF052-1FB1-663F-DFC4-3FD9F45B762D}"/>
              </a:ext>
            </a:extLst>
          </p:cNvPr>
          <p:cNvSpPr txBox="1"/>
          <p:nvPr/>
        </p:nvSpPr>
        <p:spPr>
          <a:xfrm>
            <a:off x="10350500" y="5194858"/>
            <a:ext cx="327013" cy="161583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GB" sz="1050" b="1">
                <a:solidFill>
                  <a:srgbClr val="3F7D68"/>
                </a:solidFill>
                <a:latin typeface="Aptos" panose="020B0004020202020204" pitchFamily="34" charset="0"/>
              </a:rPr>
              <a:t>11.5×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B15D888-C2EF-7C68-FFF3-C345C90ABAFE}"/>
              </a:ext>
            </a:extLst>
          </p:cNvPr>
          <p:cNvCxnSpPr/>
          <p:nvPr/>
        </p:nvCxnSpPr>
        <p:spPr>
          <a:xfrm>
            <a:off x="7385538" y="2628900"/>
            <a:ext cx="0" cy="2933700"/>
          </a:xfrm>
          <a:prstGeom prst="line">
            <a:avLst/>
          </a:prstGeom>
          <a:ln w="15240" cap="flat" cmpd="sng" algn="ctr">
            <a:solidFill>
              <a:srgbClr val="3F7D68">
                <a:alpha val="85000"/>
              </a:srgbClr>
            </a:solidFill>
            <a:prstDash val="dash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AFA9506E-25C5-126C-3284-0ECD1B5B2911}"/>
              </a:ext>
            </a:extLst>
          </p:cNvPr>
          <p:cNvSpPr txBox="1"/>
          <p:nvPr/>
        </p:nvSpPr>
        <p:spPr>
          <a:xfrm>
            <a:off x="7258538" y="5562600"/>
            <a:ext cx="115416" cy="130805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ctr"/>
            <a:r>
              <a:rPr lang="en-GB" sz="850" b="1">
                <a:solidFill>
                  <a:srgbClr val="3F7D68"/>
                </a:solidFill>
                <a:latin typeface="Aptos" panose="020B0004020202020204" pitchFamily="34" charset="0"/>
              </a:rPr>
              <a:t>1×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949B112-133E-B379-37BB-EDC9F67E7FBB}"/>
              </a:ext>
            </a:extLst>
          </p:cNvPr>
          <p:cNvSpPr txBox="1"/>
          <p:nvPr/>
        </p:nvSpPr>
        <p:spPr>
          <a:xfrm>
            <a:off x="6172200" y="5702300"/>
            <a:ext cx="51816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>
                <a:solidFill>
                  <a:srgbClr val="65727E"/>
                </a:solidFill>
                <a:latin typeface="Aptos" panose="020B0004020202020204" pitchFamily="34" charset="0"/>
              </a:rPr>
              <a:t>100 subjects • 800 records • 1 core • end-to-end wall time.
Development benchmark, 14 Jul 2026: LibeRation = 1 fresh run; NONMEM = median of 3 prior runs. Validate independently.</a:t>
            </a:r>
            <a:endParaRPr lang="en-GB" sz="900">
              <a:solidFill>
                <a:srgbClr val="65727E"/>
              </a:solidFill>
              <a:latin typeface="Aptos" panose="020B000402020202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50F873C-FAD7-6F64-54F0-4ACC52491D66}"/>
              </a:ext>
            </a:extLst>
          </p:cNvPr>
          <p:cNvSpPr txBox="1"/>
          <p:nvPr/>
        </p:nvSpPr>
        <p:spPr>
          <a:xfrm>
            <a:off x="11303000" y="6527800"/>
            <a:ext cx="60914" cy="1384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65727E"/>
                </a:solidFill>
                <a:latin typeface="Aptos" panose="020B00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54969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D13FADD-CFD2-FD81-674B-39705E311376}"/>
              </a:ext>
            </a:extLst>
          </p:cNvPr>
          <p:cNvSpPr txBox="1"/>
          <p:nvPr/>
        </p:nvSpPr>
        <p:spPr>
          <a:xfrm>
            <a:off x="546100" y="825500"/>
            <a:ext cx="110490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700" b="1">
                <a:solidFill>
                  <a:srgbClr val="23384D"/>
                </a:solidFill>
                <a:latin typeface="Aptos Display" panose="020B0004020202020204" pitchFamily="34" charset="0"/>
              </a:rPr>
              <a:t>LibeRties: run locally, scale remotely</a:t>
            </a:r>
            <a:endParaRPr lang="en-GB" sz="2700" b="1">
              <a:solidFill>
                <a:srgbClr val="23384D"/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03A4FC-A96E-8619-C0E6-AB8B024729F8}"/>
              </a:ext>
            </a:extLst>
          </p:cNvPr>
          <p:cNvSpPr txBox="1"/>
          <p:nvPr/>
        </p:nvSpPr>
        <p:spPr>
          <a:xfrm>
            <a:off x="558800" y="1333500"/>
            <a:ext cx="110490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00">
                <a:solidFill>
                  <a:srgbClr val="65727E"/>
                </a:solidFill>
                <a:latin typeface="Aptos" panose="020B0004020202020204" pitchFamily="34" charset="0"/>
              </a:rPr>
              <a:t>The same job contract can move from a laptop queue to a shared server.</a:t>
            </a:r>
            <a:endParaRPr lang="en-GB" sz="1300">
              <a:solidFill>
                <a:srgbClr val="65727E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6B63DF1-D142-5056-EE95-417D9B4EDE5F}"/>
              </a:ext>
            </a:extLst>
          </p:cNvPr>
          <p:cNvSpPr/>
          <p:nvPr/>
        </p:nvSpPr>
        <p:spPr>
          <a:xfrm>
            <a:off x="609600" y="2108200"/>
            <a:ext cx="2514600" cy="1803400"/>
          </a:xfrm>
          <a:prstGeom prst="roundRect">
            <a:avLst/>
          </a:prstGeom>
          <a:solidFill>
            <a:srgbClr val="E7EFF5"/>
          </a:solidFill>
          <a:ln w="10795" cap="flat" cmpd="sng" algn="ctr">
            <a:solidFill>
              <a:srgbClr val="4D7FA8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25400" dir="5400000" rotWithShape="0">
              <a:scrgbClr r="0" g="0" b="0">
                <a:alpha val="1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557666F-1DF1-E40D-5032-32B7694FFFBA}"/>
              </a:ext>
            </a:extLst>
          </p:cNvPr>
          <p:cNvSpPr/>
          <p:nvPr/>
        </p:nvSpPr>
        <p:spPr>
          <a:xfrm>
            <a:off x="838200" y="2336800"/>
            <a:ext cx="431800" cy="431800"/>
          </a:xfrm>
          <a:prstGeom prst="ellipse">
            <a:avLst/>
          </a:prstGeom>
          <a:solidFill>
            <a:srgbClr val="4D7F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AD010B-66FD-52F8-8682-D519CBDD8267}"/>
              </a:ext>
            </a:extLst>
          </p:cNvPr>
          <p:cNvSpPr txBox="1"/>
          <p:nvPr/>
        </p:nvSpPr>
        <p:spPr>
          <a:xfrm>
            <a:off x="1006010" y="2444978"/>
            <a:ext cx="96180" cy="21544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ctr"/>
            <a:r>
              <a:rPr lang="en-GB" sz="1400" b="1" dirty="0">
                <a:solidFill>
                  <a:srgbClr val="FFFFFF"/>
                </a:solidFill>
                <a:latin typeface="Aptos Display" panose="020B0004020202020204" pitchFamily="34" charset="0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8EE12E-BD89-85E7-E15A-3A297E58AFA0}"/>
              </a:ext>
            </a:extLst>
          </p:cNvPr>
          <p:cNvSpPr txBox="1"/>
          <p:nvPr/>
        </p:nvSpPr>
        <p:spPr>
          <a:xfrm>
            <a:off x="1422400" y="2387600"/>
            <a:ext cx="455253" cy="15388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4D7FA8"/>
                </a:solidFill>
                <a:latin typeface="Aptos" panose="020B0004020202020204" pitchFamily="34" charset="0"/>
              </a:rPr>
              <a:t>SUBMIT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7A93FE-015D-17D7-9DEE-82BA4D7FEB5F}"/>
              </a:ext>
            </a:extLst>
          </p:cNvPr>
          <p:cNvSpPr txBox="1"/>
          <p:nvPr/>
        </p:nvSpPr>
        <p:spPr>
          <a:xfrm>
            <a:off x="838200" y="2984500"/>
            <a:ext cx="20574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400" b="1">
                <a:solidFill>
                  <a:srgbClr val="23384D"/>
                </a:solidFill>
                <a:latin typeface="Aptos Display" panose="020B0004020202020204" pitchFamily="34" charset="0"/>
              </a:rPr>
              <a:t>Model, data and run settings</a:t>
            </a:r>
            <a:endParaRPr lang="en-GB" sz="1400" b="1">
              <a:solidFill>
                <a:srgbClr val="23384D"/>
              </a:solidFill>
              <a:latin typeface="Aptos Display" panose="020B0004020202020204" pitchFamily="34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B23E8CB-5410-339D-4CF0-33A2E6A52191}"/>
              </a:ext>
            </a:extLst>
          </p:cNvPr>
          <p:cNvCxnSpPr/>
          <p:nvPr/>
        </p:nvCxnSpPr>
        <p:spPr>
          <a:xfrm>
            <a:off x="3149600" y="3009900"/>
            <a:ext cx="177800" cy="0"/>
          </a:xfrm>
          <a:prstGeom prst="straightConnector1">
            <a:avLst/>
          </a:prstGeom>
          <a:ln w="25400" cap="flat" cmpd="sng" algn="ctr">
            <a:solidFill>
              <a:srgbClr val="4D7FA8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A5B1FCC-EE86-63CE-25DA-52E678C18967}"/>
              </a:ext>
            </a:extLst>
          </p:cNvPr>
          <p:cNvSpPr/>
          <p:nvPr/>
        </p:nvSpPr>
        <p:spPr>
          <a:xfrm>
            <a:off x="3429000" y="2108200"/>
            <a:ext cx="2514600" cy="1803400"/>
          </a:xfrm>
          <a:prstGeom prst="roundRect">
            <a:avLst/>
          </a:prstGeom>
          <a:solidFill>
            <a:srgbClr val="E5F0F0"/>
          </a:solidFill>
          <a:ln w="10795" cap="flat" cmpd="sng" algn="ctr">
            <a:solidFill>
              <a:srgbClr val="28777B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25400" dir="5400000" rotWithShape="0">
              <a:scrgbClr r="0" g="0" b="0">
                <a:alpha val="1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5C21B74-7718-8842-4264-7953C85F75B0}"/>
              </a:ext>
            </a:extLst>
          </p:cNvPr>
          <p:cNvSpPr/>
          <p:nvPr/>
        </p:nvSpPr>
        <p:spPr>
          <a:xfrm>
            <a:off x="3657600" y="2336800"/>
            <a:ext cx="431800" cy="431800"/>
          </a:xfrm>
          <a:prstGeom prst="ellipse">
            <a:avLst/>
          </a:prstGeom>
          <a:solidFill>
            <a:srgbClr val="28777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BFC771-5691-BE52-D2F0-F3424D4C4DD7}"/>
              </a:ext>
            </a:extLst>
          </p:cNvPr>
          <p:cNvSpPr txBox="1"/>
          <p:nvPr/>
        </p:nvSpPr>
        <p:spPr>
          <a:xfrm>
            <a:off x="3825410" y="2444978"/>
            <a:ext cx="96180" cy="21544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ctr"/>
            <a:r>
              <a:rPr lang="en-GB" sz="1400" b="1" dirty="0">
                <a:solidFill>
                  <a:srgbClr val="FFFFFF"/>
                </a:solidFill>
                <a:latin typeface="Aptos Display" panose="020B0004020202020204" pitchFamily="34" charset="0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8C99F4-8585-D906-B259-84F978C8F2F0}"/>
              </a:ext>
            </a:extLst>
          </p:cNvPr>
          <p:cNvSpPr txBox="1"/>
          <p:nvPr/>
        </p:nvSpPr>
        <p:spPr>
          <a:xfrm>
            <a:off x="4241800" y="2387600"/>
            <a:ext cx="421590" cy="15388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28777B"/>
                </a:solidFill>
                <a:latin typeface="Aptos" panose="020B0004020202020204" pitchFamily="34" charset="0"/>
              </a:rPr>
              <a:t>QUEUE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12C696-4110-D9D5-FDCB-20F0FC87CC3D}"/>
              </a:ext>
            </a:extLst>
          </p:cNvPr>
          <p:cNvSpPr txBox="1"/>
          <p:nvPr/>
        </p:nvSpPr>
        <p:spPr>
          <a:xfrm>
            <a:off x="3657600" y="2984500"/>
            <a:ext cx="20574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400" b="1">
                <a:solidFill>
                  <a:srgbClr val="23384D"/>
                </a:solidFill>
                <a:latin typeface="Aptos Display" panose="020B0004020202020204" pitchFamily="34" charset="0"/>
              </a:rPr>
              <a:t>Persistent state and scheduling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E6FFE11-27CB-DA59-A8E1-DA8597DBEBA0}"/>
              </a:ext>
            </a:extLst>
          </p:cNvPr>
          <p:cNvCxnSpPr/>
          <p:nvPr/>
        </p:nvCxnSpPr>
        <p:spPr>
          <a:xfrm>
            <a:off x="5969000" y="3009900"/>
            <a:ext cx="177800" cy="0"/>
          </a:xfrm>
          <a:prstGeom prst="straightConnector1">
            <a:avLst/>
          </a:prstGeom>
          <a:ln w="25400" cap="flat" cmpd="sng" algn="ctr">
            <a:solidFill>
              <a:srgbClr val="4D7FA8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19F6A44-0647-0A18-9524-5CA5970BB467}"/>
              </a:ext>
            </a:extLst>
          </p:cNvPr>
          <p:cNvSpPr/>
          <p:nvPr/>
        </p:nvSpPr>
        <p:spPr>
          <a:xfrm>
            <a:off x="6248400" y="2108200"/>
            <a:ext cx="2514600" cy="1803400"/>
          </a:xfrm>
          <a:prstGeom prst="roundRect">
            <a:avLst/>
          </a:prstGeom>
          <a:solidFill>
            <a:srgbClr val="ECE9F2"/>
          </a:solidFill>
          <a:ln w="10795" cap="flat" cmpd="sng" algn="ctr">
            <a:solidFill>
              <a:srgbClr val="66558D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25400" dir="5400000" rotWithShape="0">
              <a:scrgbClr r="0" g="0" b="0">
                <a:alpha val="1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3CACD93-F7DA-3B5F-72AF-4D20A8490614}"/>
              </a:ext>
            </a:extLst>
          </p:cNvPr>
          <p:cNvSpPr/>
          <p:nvPr/>
        </p:nvSpPr>
        <p:spPr>
          <a:xfrm>
            <a:off x="6477000" y="2336800"/>
            <a:ext cx="431800" cy="431800"/>
          </a:xfrm>
          <a:prstGeom prst="ellipse">
            <a:avLst/>
          </a:prstGeom>
          <a:solidFill>
            <a:srgbClr val="66558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A0B3D9-92EB-7FE5-7D2E-FD176356260B}"/>
              </a:ext>
            </a:extLst>
          </p:cNvPr>
          <p:cNvSpPr txBox="1"/>
          <p:nvPr/>
        </p:nvSpPr>
        <p:spPr>
          <a:xfrm>
            <a:off x="6644810" y="2430506"/>
            <a:ext cx="96180" cy="21544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ctr"/>
            <a:r>
              <a:rPr lang="en-GB" sz="1400" b="1" dirty="0">
                <a:solidFill>
                  <a:srgbClr val="FFFFFF"/>
                </a:solidFill>
                <a:latin typeface="Aptos Display" panose="020B0004020202020204" pitchFamily="34" charset="0"/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D1B91E-45AA-7FD4-72A5-9D8A6546CD4E}"/>
              </a:ext>
            </a:extLst>
          </p:cNvPr>
          <p:cNvSpPr txBox="1"/>
          <p:nvPr/>
        </p:nvSpPr>
        <p:spPr>
          <a:xfrm>
            <a:off x="7061200" y="2387600"/>
            <a:ext cx="376706" cy="15388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66558D"/>
                </a:solidFill>
                <a:latin typeface="Aptos" panose="020B0004020202020204" pitchFamily="34" charset="0"/>
              </a:rPr>
              <a:t>WORK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A4CC31-73A4-4E51-6F9A-DC9529CF132F}"/>
              </a:ext>
            </a:extLst>
          </p:cNvPr>
          <p:cNvSpPr txBox="1"/>
          <p:nvPr/>
        </p:nvSpPr>
        <p:spPr>
          <a:xfrm>
            <a:off x="6477000" y="2984500"/>
            <a:ext cx="20574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400" b="1">
                <a:solidFill>
                  <a:srgbClr val="23384D"/>
                </a:solidFill>
                <a:latin typeface="Aptos Display" panose="020B0004020202020204" pitchFamily="34" charset="0"/>
              </a:rPr>
              <a:t>Isolated process with limits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6FC878A-A3E6-B181-DC5A-EA74EB150048}"/>
              </a:ext>
            </a:extLst>
          </p:cNvPr>
          <p:cNvCxnSpPr/>
          <p:nvPr/>
        </p:nvCxnSpPr>
        <p:spPr>
          <a:xfrm>
            <a:off x="8788400" y="3009900"/>
            <a:ext cx="177800" cy="0"/>
          </a:xfrm>
          <a:prstGeom prst="straightConnector1">
            <a:avLst/>
          </a:prstGeom>
          <a:ln w="25400" cap="flat" cmpd="sng" algn="ctr">
            <a:solidFill>
              <a:srgbClr val="4D7FA8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22D2493-D203-8F04-9182-B91C2E3D9D3C}"/>
              </a:ext>
            </a:extLst>
          </p:cNvPr>
          <p:cNvSpPr/>
          <p:nvPr/>
        </p:nvSpPr>
        <p:spPr>
          <a:xfrm>
            <a:off x="9067800" y="2108200"/>
            <a:ext cx="2514600" cy="1803400"/>
          </a:xfrm>
          <a:prstGeom prst="roundRect">
            <a:avLst/>
          </a:prstGeom>
          <a:solidFill>
            <a:srgbClr val="E6F0EC"/>
          </a:solidFill>
          <a:ln w="10795" cap="flat" cmpd="sng" algn="ctr">
            <a:solidFill>
              <a:srgbClr val="3F7D68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25400" dir="5400000" rotWithShape="0">
              <a:scrgbClr r="0" g="0" b="0">
                <a:alpha val="1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DC35D05-8B72-21B3-7919-1FB561D0DFF9}"/>
              </a:ext>
            </a:extLst>
          </p:cNvPr>
          <p:cNvSpPr/>
          <p:nvPr/>
        </p:nvSpPr>
        <p:spPr>
          <a:xfrm>
            <a:off x="9296400" y="2336800"/>
            <a:ext cx="431800" cy="431800"/>
          </a:xfrm>
          <a:prstGeom prst="ellipse">
            <a:avLst/>
          </a:prstGeom>
          <a:solidFill>
            <a:srgbClr val="3F7D6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2C5F41-151F-ACAA-38B2-6C428FB9E47D}"/>
              </a:ext>
            </a:extLst>
          </p:cNvPr>
          <p:cNvSpPr txBox="1"/>
          <p:nvPr/>
        </p:nvSpPr>
        <p:spPr>
          <a:xfrm>
            <a:off x="9464210" y="2444978"/>
            <a:ext cx="96180" cy="21544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ctr"/>
            <a:r>
              <a:rPr lang="en-GB" sz="1400" b="1" dirty="0">
                <a:solidFill>
                  <a:srgbClr val="FFFFFF"/>
                </a:solidFill>
                <a:latin typeface="Aptos Display" panose="020B0004020202020204" pitchFamily="34" charset="0"/>
              </a:rPr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49115E1-0362-E876-BE9D-24563CDEB5A5}"/>
              </a:ext>
            </a:extLst>
          </p:cNvPr>
          <p:cNvSpPr txBox="1"/>
          <p:nvPr/>
        </p:nvSpPr>
        <p:spPr>
          <a:xfrm>
            <a:off x="9880600" y="2387600"/>
            <a:ext cx="484107" cy="15388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3F7D68"/>
                </a:solidFill>
                <a:latin typeface="Aptos" panose="020B0004020202020204" pitchFamily="34" charset="0"/>
              </a:rPr>
              <a:t>RETURN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88D3A1-C50A-5BFD-6536-A3DA4DBD1D8A}"/>
              </a:ext>
            </a:extLst>
          </p:cNvPr>
          <p:cNvSpPr txBox="1"/>
          <p:nvPr/>
        </p:nvSpPr>
        <p:spPr>
          <a:xfrm>
            <a:off x="9296400" y="2984500"/>
            <a:ext cx="20574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400" b="1">
                <a:solidFill>
                  <a:srgbClr val="23384D"/>
                </a:solidFill>
                <a:latin typeface="Aptos Display" panose="020B0004020202020204" pitchFamily="34" charset="0"/>
              </a:rPr>
              <a:t>Logs, status and results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4D4EC1B-FC51-DCC6-B339-F85C85D06195}"/>
              </a:ext>
            </a:extLst>
          </p:cNvPr>
          <p:cNvSpPr/>
          <p:nvPr/>
        </p:nvSpPr>
        <p:spPr>
          <a:xfrm>
            <a:off x="1016000" y="4254500"/>
            <a:ext cx="1905000" cy="355600"/>
          </a:xfrm>
          <a:prstGeom prst="roundRect">
            <a:avLst/>
          </a:prstGeom>
          <a:solidFill>
            <a:srgbClr val="23384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638B62D-7305-1EEC-E4C1-FEE5B16C7ADA}"/>
              </a:ext>
            </a:extLst>
          </p:cNvPr>
          <p:cNvSpPr txBox="1"/>
          <p:nvPr/>
        </p:nvSpPr>
        <p:spPr>
          <a:xfrm>
            <a:off x="1016000" y="4308361"/>
            <a:ext cx="1905000" cy="297517"/>
          </a:xfrm>
          <a:prstGeom prst="rect">
            <a:avLst/>
          </a:prstGeom>
          <a:noFill/>
        </p:spPr>
        <p:txBody>
          <a:bodyPr vert="horz" wrap="square" lIns="63500" tIns="63500" rIns="63500" bIns="63500" rtlCol="0" anchor="ctr">
            <a:spAutoFit/>
          </a:bodyPr>
          <a:lstStyle/>
          <a:p>
            <a:pPr algn="ctr"/>
            <a:r>
              <a:rPr lang="en-GB" sz="1100" b="1">
                <a:solidFill>
                  <a:srgbClr val="FFFFFF"/>
                </a:solidFill>
                <a:latin typeface="Aptos" panose="020B0004020202020204" pitchFamily="34" charset="0"/>
              </a:rPr>
              <a:t>LOCAL OR REMOTE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484600F-20E7-AFF8-0882-04A759B13CC4}"/>
              </a:ext>
            </a:extLst>
          </p:cNvPr>
          <p:cNvSpPr/>
          <p:nvPr/>
        </p:nvSpPr>
        <p:spPr>
          <a:xfrm>
            <a:off x="3238500" y="4254500"/>
            <a:ext cx="2159000" cy="355600"/>
          </a:xfrm>
          <a:prstGeom prst="roundRect">
            <a:avLst/>
          </a:prstGeom>
          <a:solidFill>
            <a:srgbClr val="ECE9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9581A53-CFF4-CB99-1D64-D679C46F640E}"/>
              </a:ext>
            </a:extLst>
          </p:cNvPr>
          <p:cNvSpPr txBox="1"/>
          <p:nvPr/>
        </p:nvSpPr>
        <p:spPr>
          <a:xfrm>
            <a:off x="3238500" y="4308361"/>
            <a:ext cx="2159000" cy="297517"/>
          </a:xfrm>
          <a:prstGeom prst="rect">
            <a:avLst/>
          </a:prstGeom>
          <a:noFill/>
        </p:spPr>
        <p:txBody>
          <a:bodyPr vert="horz" wrap="square" lIns="63500" tIns="63500" rIns="63500" bIns="63500" rtlCol="0" anchor="ctr">
            <a:spAutoFit/>
          </a:bodyPr>
          <a:lstStyle/>
          <a:p>
            <a:pPr algn="ctr"/>
            <a:r>
              <a:rPr lang="en-GB" sz="1100" b="1">
                <a:solidFill>
                  <a:srgbClr val="66558D"/>
                </a:solidFill>
                <a:latin typeface="Aptos" panose="020B0004020202020204" pitchFamily="34" charset="0"/>
              </a:rPr>
              <a:t>MULTI-USER ISOLATION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2C1784D-1E17-8A3A-F98A-D739DA585FFD}"/>
              </a:ext>
            </a:extLst>
          </p:cNvPr>
          <p:cNvSpPr/>
          <p:nvPr/>
        </p:nvSpPr>
        <p:spPr>
          <a:xfrm>
            <a:off x="5715000" y="4254500"/>
            <a:ext cx="2286000" cy="355600"/>
          </a:xfrm>
          <a:prstGeom prst="roundRect">
            <a:avLst/>
          </a:prstGeom>
          <a:solidFill>
            <a:srgbClr val="F4EE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66747DF-CB0D-FDDF-EDB7-C1DD2E90B35F}"/>
              </a:ext>
            </a:extLst>
          </p:cNvPr>
          <p:cNvSpPr txBox="1"/>
          <p:nvPr/>
        </p:nvSpPr>
        <p:spPr>
          <a:xfrm>
            <a:off x="5715000" y="4308361"/>
            <a:ext cx="2286000" cy="297517"/>
          </a:xfrm>
          <a:prstGeom prst="rect">
            <a:avLst/>
          </a:prstGeom>
          <a:noFill/>
        </p:spPr>
        <p:txBody>
          <a:bodyPr vert="horz" wrap="square" lIns="63500" tIns="63500" rIns="63500" bIns="63500" rtlCol="0" anchor="ctr">
            <a:spAutoFit/>
          </a:bodyPr>
          <a:lstStyle/>
          <a:p>
            <a:pPr algn="ctr"/>
            <a:r>
              <a:rPr lang="en-GB" sz="1100" b="1">
                <a:solidFill>
                  <a:srgbClr val="A37232"/>
                </a:solidFill>
                <a:latin typeface="Aptos" panose="020B0004020202020204" pitchFamily="34" charset="0"/>
              </a:rPr>
              <a:t>QUOTAS + CANCELLATION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DB99DC2-4AA1-0A90-7B5B-AFE2741B825E}"/>
              </a:ext>
            </a:extLst>
          </p:cNvPr>
          <p:cNvSpPr/>
          <p:nvPr/>
        </p:nvSpPr>
        <p:spPr>
          <a:xfrm>
            <a:off x="8318500" y="4254500"/>
            <a:ext cx="1905000" cy="355600"/>
          </a:xfrm>
          <a:prstGeom prst="roundRect">
            <a:avLst/>
          </a:prstGeom>
          <a:solidFill>
            <a:srgbClr val="E6F0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051ABF-1F68-41BA-3454-F112AE781CAF}"/>
              </a:ext>
            </a:extLst>
          </p:cNvPr>
          <p:cNvSpPr txBox="1"/>
          <p:nvPr/>
        </p:nvSpPr>
        <p:spPr>
          <a:xfrm>
            <a:off x="8318500" y="4308361"/>
            <a:ext cx="1905000" cy="297517"/>
          </a:xfrm>
          <a:prstGeom prst="rect">
            <a:avLst/>
          </a:prstGeom>
          <a:noFill/>
        </p:spPr>
        <p:txBody>
          <a:bodyPr vert="horz" wrap="square" lIns="63500" tIns="63500" rIns="63500" bIns="63500" rtlCol="0" anchor="ctr">
            <a:spAutoFit/>
          </a:bodyPr>
          <a:lstStyle/>
          <a:p>
            <a:pPr algn="ctr"/>
            <a:r>
              <a:rPr lang="en-GB" sz="1100" b="1">
                <a:solidFill>
                  <a:srgbClr val="3F7D68"/>
                </a:solidFill>
                <a:latin typeface="Aptos" panose="020B0004020202020204" pitchFamily="34" charset="0"/>
              </a:rPr>
              <a:t>RESTART RECOVERY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69DC376-D9CB-EF1D-21FF-564CC3374768}"/>
              </a:ext>
            </a:extLst>
          </p:cNvPr>
          <p:cNvSpPr txBox="1"/>
          <p:nvPr/>
        </p:nvSpPr>
        <p:spPr>
          <a:xfrm>
            <a:off x="1016000" y="4855619"/>
            <a:ext cx="5209055" cy="19236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ctr"/>
            <a:r>
              <a:rPr lang="en-US" sz="1250">
                <a:solidFill>
                  <a:srgbClr val="65727E"/>
                </a:solidFill>
                <a:latin typeface="Aptos" panose="020B0004020202020204" pitchFamily="34" charset="0"/>
              </a:rPr>
              <a:t>Designed for Windows testing today and Linux server deployment tomorrow.</a:t>
            </a:r>
            <a:endParaRPr lang="en-GB" sz="1250">
              <a:solidFill>
                <a:srgbClr val="65727E"/>
              </a:solidFill>
              <a:latin typeface="Aptos" panose="020B0004020202020204" pitchFamily="34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7102C933-CA3F-8481-2009-842F74885657}"/>
              </a:ext>
            </a:extLst>
          </p:cNvPr>
          <p:cNvSpPr/>
          <p:nvPr/>
        </p:nvSpPr>
        <p:spPr>
          <a:xfrm>
            <a:off x="609600" y="5410200"/>
            <a:ext cx="10972800" cy="774700"/>
          </a:xfrm>
          <a:prstGeom prst="roundRect">
            <a:avLst/>
          </a:prstGeom>
          <a:solidFill>
            <a:srgbClr val="23384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D2546C67-05B6-9643-2CFA-845A96B7A1B7}"/>
              </a:ext>
            </a:extLst>
          </p:cNvPr>
          <p:cNvSpPr/>
          <p:nvPr/>
        </p:nvSpPr>
        <p:spPr>
          <a:xfrm>
            <a:off x="876300" y="5626100"/>
            <a:ext cx="825500" cy="342900"/>
          </a:xfrm>
          <a:prstGeom prst="roundRect">
            <a:avLst/>
          </a:prstGeom>
          <a:solidFill>
            <a:srgbClr val="3F7D6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D9F3B8B-BB55-0BA0-F7B0-C8B7597CF34D}"/>
              </a:ext>
            </a:extLst>
          </p:cNvPr>
          <p:cNvSpPr txBox="1"/>
          <p:nvPr/>
        </p:nvSpPr>
        <p:spPr>
          <a:xfrm>
            <a:off x="876300" y="5679961"/>
            <a:ext cx="825500" cy="297517"/>
          </a:xfrm>
          <a:prstGeom prst="rect">
            <a:avLst/>
          </a:prstGeom>
          <a:noFill/>
        </p:spPr>
        <p:txBody>
          <a:bodyPr vert="horz" wrap="square" lIns="63500" tIns="63500" rIns="63500" bIns="63500" rtlCol="0" anchor="ctr">
            <a:spAutoFit/>
          </a:bodyPr>
          <a:lstStyle/>
          <a:p>
            <a:pPr algn="ctr"/>
            <a:r>
              <a:rPr lang="en-GB" sz="1100" b="1">
                <a:solidFill>
                  <a:srgbClr val="FFFFFF"/>
                </a:solidFill>
                <a:latin typeface="Aptos" panose="020B0004020202020204" pitchFamily="34" charset="0"/>
              </a:rPr>
              <a:t>NEXT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542C5D8-D222-8D01-F9B3-A854BF771CFA}"/>
              </a:ext>
            </a:extLst>
          </p:cNvPr>
          <p:cNvSpPr txBox="1"/>
          <p:nvPr/>
        </p:nvSpPr>
        <p:spPr>
          <a:xfrm>
            <a:off x="1930400" y="5595694"/>
            <a:ext cx="4506618" cy="26161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GB" sz="1700" b="1">
                <a:solidFill>
                  <a:srgbClr val="FFFFFF"/>
                </a:solidFill>
                <a:latin typeface="Aptos Display" panose="020B0004020202020204" pitchFamily="34" charset="0"/>
              </a:rPr>
              <a:t>Live demo: create → estimate → diagnose → queue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76B39E3-2559-50AE-7167-C2576C295A1B}"/>
              </a:ext>
            </a:extLst>
          </p:cNvPr>
          <p:cNvSpPr txBox="1"/>
          <p:nvPr/>
        </p:nvSpPr>
        <p:spPr>
          <a:xfrm>
            <a:off x="11303000" y="6527800"/>
            <a:ext cx="60914" cy="1384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65727E"/>
                </a:solidFill>
                <a:latin typeface="Aptos" panose="020B00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392547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0C0A185-A5BB-F3E9-ECDA-4E622912957D}"/>
              </a:ext>
            </a:extLst>
          </p:cNvPr>
          <p:cNvSpPr/>
          <p:nvPr/>
        </p:nvSpPr>
        <p:spPr>
          <a:xfrm>
            <a:off x="711200" y="1346200"/>
            <a:ext cx="1549400" cy="330200"/>
          </a:xfrm>
          <a:prstGeom prst="roundRect">
            <a:avLst/>
          </a:prstGeom>
          <a:solidFill>
            <a:srgbClr val="28777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645D2E-9F6F-00D5-2FCA-3EC9863E990B}"/>
              </a:ext>
            </a:extLst>
          </p:cNvPr>
          <p:cNvSpPr txBox="1"/>
          <p:nvPr/>
        </p:nvSpPr>
        <p:spPr>
          <a:xfrm>
            <a:off x="711200" y="1407755"/>
            <a:ext cx="1549400" cy="282129"/>
          </a:xfrm>
          <a:prstGeom prst="rect">
            <a:avLst/>
          </a:prstGeom>
          <a:noFill/>
        </p:spPr>
        <p:txBody>
          <a:bodyPr vert="horz" wrap="square" lIns="63500" tIns="63500" rIns="63500" bIns="63500" rtlCol="0" anchor="ctr">
            <a:spAutoFit/>
          </a:bodyPr>
          <a:lstStyle/>
          <a:p>
            <a:pPr algn="ctr"/>
            <a:r>
              <a:rPr lang="en-GB" sz="1000" b="1">
                <a:solidFill>
                  <a:srgbClr val="FFFFFF"/>
                </a:solidFill>
                <a:latin typeface="Aptos" panose="020B0004020202020204" pitchFamily="34" charset="0"/>
              </a:rPr>
              <a:t>AFTER THE DEMO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B6ED4F-2D71-1018-8B81-186B57342977}"/>
              </a:ext>
            </a:extLst>
          </p:cNvPr>
          <p:cNvSpPr txBox="1"/>
          <p:nvPr/>
        </p:nvSpPr>
        <p:spPr>
          <a:xfrm>
            <a:off x="698500" y="1866900"/>
            <a:ext cx="3476657" cy="52322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r>
              <a:rPr lang="en-GB" sz="3400" b="1">
                <a:solidFill>
                  <a:srgbClr val="FFFFFF"/>
                </a:solidFill>
                <a:latin typeface="Aptos Display" panose="020B0004020202020204" pitchFamily="34" charset="0"/>
              </a:rPr>
              <a:t>What to remember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363886-1B06-1663-8398-C6363EEF5811}"/>
              </a:ext>
            </a:extLst>
          </p:cNvPr>
          <p:cNvSpPr txBox="1"/>
          <p:nvPr/>
        </p:nvSpPr>
        <p:spPr>
          <a:xfrm>
            <a:off x="736600" y="2540000"/>
            <a:ext cx="88900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600">
                <a:solidFill>
                  <a:srgbClr val="B8C8D5"/>
                </a:solidFill>
                <a:latin typeface="Aptos" panose="020B0004020202020204" pitchFamily="34" charset="0"/>
              </a:rPr>
              <a:t>LibeR connects approachable model building with a modern numerical core.</a:t>
            </a:r>
            <a:endParaRPr lang="en-GB" sz="1600">
              <a:solidFill>
                <a:srgbClr val="B8C8D5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847FD87-6A9C-F912-778C-F173244E7B6C}"/>
              </a:ext>
            </a:extLst>
          </p:cNvPr>
          <p:cNvSpPr/>
          <p:nvPr/>
        </p:nvSpPr>
        <p:spPr>
          <a:xfrm>
            <a:off x="736600" y="3352800"/>
            <a:ext cx="3175000" cy="1600200"/>
          </a:xfrm>
          <a:prstGeom prst="roundRect">
            <a:avLst/>
          </a:prstGeom>
          <a:solidFill>
            <a:srgbClr val="19232D"/>
          </a:solidFill>
          <a:ln w="12700" cap="flat" cmpd="sng" algn="ctr">
            <a:solidFill>
              <a:srgbClr val="34445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60AF26-C8D9-E5A9-3620-8EF83A7D783E}"/>
              </a:ext>
            </a:extLst>
          </p:cNvPr>
          <p:cNvSpPr txBox="1"/>
          <p:nvPr/>
        </p:nvSpPr>
        <p:spPr>
          <a:xfrm>
            <a:off x="965200" y="3568700"/>
            <a:ext cx="163506" cy="184666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r>
              <a:rPr lang="en-GB" sz="1200" b="1">
                <a:solidFill>
                  <a:srgbClr val="4D7FA8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7A5656-947E-ACA9-37CD-474C1E25D11A}"/>
              </a:ext>
            </a:extLst>
          </p:cNvPr>
          <p:cNvSpPr txBox="1"/>
          <p:nvPr/>
        </p:nvSpPr>
        <p:spPr>
          <a:xfrm>
            <a:off x="965200" y="3949700"/>
            <a:ext cx="1447191" cy="29238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r>
              <a:rPr lang="en-GB" sz="1900" b="1">
                <a:solidFill>
                  <a:srgbClr val="FFFFFF"/>
                </a:solidFill>
                <a:latin typeface="Aptos Display" panose="020B0004020202020204" pitchFamily="34" charset="0"/>
              </a:rPr>
              <a:t>Approachable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34FB74-44CF-A0A5-F0A9-A1CC094B9C44}"/>
              </a:ext>
            </a:extLst>
          </p:cNvPr>
          <p:cNvSpPr txBox="1"/>
          <p:nvPr/>
        </p:nvSpPr>
        <p:spPr>
          <a:xfrm>
            <a:off x="965200" y="4368800"/>
            <a:ext cx="2667000" cy="3539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50">
                <a:solidFill>
                  <a:srgbClr val="B8C8D5"/>
                </a:solidFill>
                <a:latin typeface="Aptos" panose="020B0004020202020204" pitchFamily="34" charset="0"/>
              </a:rPr>
              <a:t>GUI workflow with R, C++ and NONMEM interoperability</a:t>
            </a:r>
            <a:endParaRPr lang="en-GB" sz="1150">
              <a:solidFill>
                <a:srgbClr val="B8C8D5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67C66BE-53B0-84B8-FF94-9E9E231AC16A}"/>
              </a:ext>
            </a:extLst>
          </p:cNvPr>
          <p:cNvSpPr/>
          <p:nvPr/>
        </p:nvSpPr>
        <p:spPr>
          <a:xfrm>
            <a:off x="4495800" y="3352800"/>
            <a:ext cx="3175000" cy="1600200"/>
          </a:xfrm>
          <a:prstGeom prst="roundRect">
            <a:avLst/>
          </a:prstGeom>
          <a:solidFill>
            <a:srgbClr val="19232D"/>
          </a:solidFill>
          <a:ln w="12700" cap="flat" cmpd="sng" algn="ctr">
            <a:solidFill>
              <a:srgbClr val="34445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01F240-95C8-DA15-5023-7A6C6AA72187}"/>
              </a:ext>
            </a:extLst>
          </p:cNvPr>
          <p:cNvSpPr txBox="1"/>
          <p:nvPr/>
        </p:nvSpPr>
        <p:spPr>
          <a:xfrm>
            <a:off x="4724400" y="3568700"/>
            <a:ext cx="163506" cy="184666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r>
              <a:rPr lang="en-GB" sz="1200" b="1">
                <a:solidFill>
                  <a:srgbClr val="28777B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43068C-2463-E839-663B-0A6C3F316521}"/>
              </a:ext>
            </a:extLst>
          </p:cNvPr>
          <p:cNvSpPr txBox="1"/>
          <p:nvPr/>
        </p:nvSpPr>
        <p:spPr>
          <a:xfrm>
            <a:off x="4724400" y="3949700"/>
            <a:ext cx="925894" cy="29238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r>
              <a:rPr lang="en-GB" sz="1900" b="1">
                <a:solidFill>
                  <a:srgbClr val="FFFFFF"/>
                </a:solidFill>
                <a:latin typeface="Aptos Display" panose="020B0004020202020204" pitchFamily="34" charset="0"/>
              </a:rPr>
              <a:t>Powerful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06EB7F-FB69-B114-B498-2555318927F4}"/>
              </a:ext>
            </a:extLst>
          </p:cNvPr>
          <p:cNvSpPr txBox="1"/>
          <p:nvPr/>
        </p:nvSpPr>
        <p:spPr>
          <a:xfrm>
            <a:off x="4724400" y="4368800"/>
            <a:ext cx="2667000" cy="3539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50">
                <a:solidFill>
                  <a:srgbClr val="B8C8D5"/>
                </a:solidFill>
                <a:latin typeface="Aptos" panose="020B0004020202020204" pitchFamily="34" charset="0"/>
              </a:rPr>
              <a:t>Automatic differentiation, specialist PK/PD solvers and diagnostics</a:t>
            </a:r>
            <a:endParaRPr lang="en-GB" sz="1150">
              <a:solidFill>
                <a:srgbClr val="B8C8D5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0DB5C40-630E-3B88-FA36-D514D950ACA8}"/>
              </a:ext>
            </a:extLst>
          </p:cNvPr>
          <p:cNvSpPr/>
          <p:nvPr/>
        </p:nvSpPr>
        <p:spPr>
          <a:xfrm>
            <a:off x="8255000" y="3352800"/>
            <a:ext cx="3175000" cy="1600200"/>
          </a:xfrm>
          <a:prstGeom prst="roundRect">
            <a:avLst/>
          </a:prstGeom>
          <a:solidFill>
            <a:srgbClr val="19232D"/>
          </a:solidFill>
          <a:ln w="12700" cap="flat" cmpd="sng" algn="ctr">
            <a:solidFill>
              <a:srgbClr val="34445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D96934-A032-38AB-8185-37A538F7BAFB}"/>
              </a:ext>
            </a:extLst>
          </p:cNvPr>
          <p:cNvSpPr txBox="1"/>
          <p:nvPr/>
        </p:nvSpPr>
        <p:spPr>
          <a:xfrm>
            <a:off x="8483600" y="3568700"/>
            <a:ext cx="163506" cy="184666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r>
              <a:rPr lang="en-GB" sz="1200" b="1">
                <a:solidFill>
                  <a:srgbClr val="3F7D68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753CF3-AE4A-4F52-05AD-6698DCFA64EE}"/>
              </a:ext>
            </a:extLst>
          </p:cNvPr>
          <p:cNvSpPr txBox="1"/>
          <p:nvPr/>
        </p:nvSpPr>
        <p:spPr>
          <a:xfrm>
            <a:off x="8483600" y="3949700"/>
            <a:ext cx="898836" cy="29238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r>
              <a:rPr lang="en-GB" sz="1900" b="1">
                <a:solidFill>
                  <a:srgbClr val="FFFFFF"/>
                </a:solidFill>
                <a:latin typeface="Aptos Display" panose="020B0004020202020204" pitchFamily="34" charset="0"/>
              </a:rPr>
              <a:t>Scalable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286735-2948-00FD-6350-E6F70BBBFB92}"/>
              </a:ext>
            </a:extLst>
          </p:cNvPr>
          <p:cNvSpPr txBox="1"/>
          <p:nvPr/>
        </p:nvSpPr>
        <p:spPr>
          <a:xfrm>
            <a:off x="8483600" y="4368800"/>
            <a:ext cx="2667000" cy="3539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50">
                <a:solidFill>
                  <a:srgbClr val="B8C8D5"/>
                </a:solidFill>
                <a:latin typeface="Aptos" panose="020B0004020202020204" pitchFamily="34" charset="0"/>
              </a:rPr>
              <a:t>Local queues and remote execution with durable job state</a:t>
            </a:r>
            <a:endParaRPr lang="en-GB" sz="1150">
              <a:solidFill>
                <a:srgbClr val="B8C8D5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E989768-DD87-248B-9EAD-17D9FE8B4096}"/>
              </a:ext>
            </a:extLst>
          </p:cNvPr>
          <p:cNvSpPr/>
          <p:nvPr/>
        </p:nvSpPr>
        <p:spPr>
          <a:xfrm>
            <a:off x="736600" y="5334000"/>
            <a:ext cx="10693400" cy="736600"/>
          </a:xfrm>
          <a:prstGeom prst="roundRect">
            <a:avLst/>
          </a:prstGeom>
          <a:solidFill>
            <a:srgbClr val="1F3243"/>
          </a:solidFill>
          <a:ln w="12700" cap="flat" cmpd="sng" algn="ctr">
            <a:solidFill>
              <a:srgbClr val="47617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DE8910-468A-D377-2DB6-88C0D4DB8C1F}"/>
              </a:ext>
            </a:extLst>
          </p:cNvPr>
          <p:cNvSpPr txBox="1"/>
          <p:nvPr/>
        </p:nvSpPr>
        <p:spPr>
          <a:xfrm>
            <a:off x="990600" y="5601072"/>
            <a:ext cx="881523" cy="20005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GB" sz="1300" b="1">
                <a:solidFill>
                  <a:srgbClr val="3F7D68"/>
                </a:solidFill>
                <a:latin typeface="Aptos" panose="020B0004020202020204" pitchFamily="34" charset="0"/>
              </a:rPr>
              <a:t>Take-home: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8E5905-13BC-63E5-5ECB-859FD2B71055}"/>
              </a:ext>
            </a:extLst>
          </p:cNvPr>
          <p:cNvSpPr txBox="1"/>
          <p:nvPr/>
        </p:nvSpPr>
        <p:spPr>
          <a:xfrm>
            <a:off x="2286000" y="5544894"/>
            <a:ext cx="5651932" cy="26161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Aptos Display" panose="020B0004020202020204" pitchFamily="34" charset="0"/>
              </a:rPr>
              <a:t>transparent PK/PD workflows without giving up performance.</a:t>
            </a:r>
            <a:endParaRPr lang="en-GB" sz="17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C47CBD-7077-8ACA-E51E-85EA0E3AC63C}"/>
              </a:ext>
            </a:extLst>
          </p:cNvPr>
          <p:cNvSpPr txBox="1"/>
          <p:nvPr/>
        </p:nvSpPr>
        <p:spPr>
          <a:xfrm>
            <a:off x="8890000" y="6261472"/>
            <a:ext cx="1787541" cy="20005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r"/>
            <a:r>
              <a:rPr lang="en-GB" sz="1300" b="1">
                <a:solidFill>
                  <a:srgbClr val="B8C8D5"/>
                </a:solidFill>
                <a:latin typeface="Aptos" panose="020B0004020202020204" pitchFamily="34" charset="0"/>
              </a:rPr>
              <a:t>Questions &amp; discussion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AFD437-0135-C6DA-461B-2550ED61A20C}"/>
              </a:ext>
            </a:extLst>
          </p:cNvPr>
          <p:cNvSpPr txBox="1"/>
          <p:nvPr/>
        </p:nvSpPr>
        <p:spPr>
          <a:xfrm>
            <a:off x="736600" y="6284555"/>
            <a:ext cx="2096728" cy="153888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GB" sz="1000">
                <a:solidFill>
                  <a:srgbClr val="88A0B2"/>
                </a:solidFill>
                <a:latin typeface="Aptos" panose="020B0004020202020204" pitchFamily="34" charset="0"/>
              </a:rPr>
              <a:t>github.com/svdijkman  •  MIT licensed</a:t>
            </a:r>
          </a:p>
        </p:txBody>
      </p:sp>
    </p:spTree>
    <p:extLst>
      <p:ext uri="{BB962C8B-B14F-4D97-AF65-F5344CB8AC3E}">
        <p14:creationId xmlns:p14="http://schemas.microsoft.com/office/powerpoint/2010/main" val="2982646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82C05397-7A8E-4C87-BAF6-8B3E75CBE3D1}" vid="{2126BE3D-3983-432D-A894-5C694F658F8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571</Words>
  <Application>Microsoft Office PowerPoint</Application>
  <PresentationFormat>Widescreen</PresentationFormat>
  <Paragraphs>119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Sven van Dijkman</dc:creator>
  <cp:lastModifiedBy>Sven van Dijkman</cp:lastModifiedBy>
  <cp:revision>3</cp:revision>
  <dcterms:created xsi:type="dcterms:W3CDTF">2026-07-15T01:08:41Z</dcterms:created>
  <dcterms:modified xsi:type="dcterms:W3CDTF">2026-07-15T01:17:24Z</dcterms:modified>
</cp:coreProperties>
</file>